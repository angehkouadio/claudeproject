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930B9D-4ED8-43E0-A965-6B9A1AE8FEB4}" v="1" dt="2026-10-02T15:56:30.5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ADIO Ange" userId="1145af44-6c2b-4143-8dbe-dbdc2051e0cf" providerId="ADAL" clId="{D76DAE80-3099-4F61-B03C-9DDDDB396194}"/>
    <pc:docChg chg="custSel addSld delSld modSld sldOrd">
      <pc:chgData name="KOUADIO Ange" userId="1145af44-6c2b-4143-8dbe-dbdc2051e0cf" providerId="ADAL" clId="{D76DAE80-3099-4F61-B03C-9DDDDB396194}" dt="2026-10-02T16:13:36.756" v="26" actId="20577"/>
      <pc:docMkLst>
        <pc:docMk/>
      </pc:docMkLst>
      <pc:sldChg chg="modSp mod">
        <pc:chgData name="KOUADIO Ange" userId="1145af44-6c2b-4143-8dbe-dbdc2051e0cf" providerId="ADAL" clId="{D76DAE80-3099-4F61-B03C-9DDDDB396194}" dt="2026-10-02T15:54:37.833" v="14" actId="20577"/>
        <pc:sldMkLst>
          <pc:docMk/>
          <pc:sldMk cId="0" sldId="259"/>
        </pc:sldMkLst>
        <pc:graphicFrameChg chg="modGraphic">
          <ac:chgData name="KOUADIO Ange" userId="1145af44-6c2b-4143-8dbe-dbdc2051e0cf" providerId="ADAL" clId="{D76DAE80-3099-4F61-B03C-9DDDDB396194}" dt="2026-10-02T15:54:37.833" v="14" actId="20577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KOUADIO Ange" userId="1145af44-6c2b-4143-8dbe-dbdc2051e0cf" providerId="ADAL" clId="{D76DAE80-3099-4F61-B03C-9DDDDB396194}" dt="2026-10-02T15:56:01.824" v="16" actId="1076"/>
        <pc:sldMkLst>
          <pc:docMk/>
          <pc:sldMk cId="0" sldId="260"/>
        </pc:sldMkLst>
        <pc:spChg chg="mod">
          <ac:chgData name="KOUADIO Ange" userId="1145af44-6c2b-4143-8dbe-dbdc2051e0cf" providerId="ADAL" clId="{D76DAE80-3099-4F61-B03C-9DDDDB396194}" dt="2026-10-02T15:56:01.824" v="16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KOUADIO Ange" userId="1145af44-6c2b-4143-8dbe-dbdc2051e0cf" providerId="ADAL" clId="{D76DAE80-3099-4F61-B03C-9DDDDB396194}" dt="2026-10-02T15:55:28.211" v="15" actId="207"/>
          <ac:spMkLst>
            <pc:docMk/>
            <pc:sldMk cId="0" sldId="260"/>
            <ac:spMk id="15" creationId="{00000000-0000-0000-0000-000000000000}"/>
          </ac:spMkLst>
        </pc:spChg>
      </pc:sldChg>
      <pc:sldChg chg="del ord">
        <pc:chgData name="KOUADIO Ange" userId="1145af44-6c2b-4143-8dbe-dbdc2051e0cf" providerId="ADAL" clId="{D76DAE80-3099-4F61-B03C-9DDDDB396194}" dt="2026-10-02T16:11:36.732" v="23" actId="47"/>
        <pc:sldMkLst>
          <pc:docMk/>
          <pc:sldMk cId="0" sldId="262"/>
        </pc:sldMkLst>
      </pc:sldChg>
      <pc:sldChg chg="addSp delSp modSp add mod">
        <pc:chgData name="KOUADIO Ange" userId="1145af44-6c2b-4143-8dbe-dbdc2051e0cf" providerId="ADAL" clId="{D76DAE80-3099-4F61-B03C-9DDDDB396194}" dt="2026-10-02T16:13:36.756" v="26" actId="20577"/>
        <pc:sldMkLst>
          <pc:docMk/>
          <pc:sldMk cId="3087483314" sldId="266"/>
        </pc:sldMkLst>
        <pc:spChg chg="mod">
          <ac:chgData name="KOUADIO Ange" userId="1145af44-6c2b-4143-8dbe-dbdc2051e0cf" providerId="ADAL" clId="{D76DAE80-3099-4F61-B03C-9DDDDB396194}" dt="2026-10-02T16:13:36.756" v="26" actId="20577"/>
          <ac:spMkLst>
            <pc:docMk/>
            <pc:sldMk cId="3087483314" sldId="266"/>
            <ac:spMk id="19" creationId="{00000000-0000-0000-0000-000000000000}"/>
          </ac:spMkLst>
        </pc:spChg>
        <pc:spChg chg="add del">
          <ac:chgData name="KOUADIO Ange" userId="1145af44-6c2b-4143-8dbe-dbdc2051e0cf" providerId="ADAL" clId="{D76DAE80-3099-4F61-B03C-9DDDDB396194}" dt="2026-10-02T16:02:26.053" v="20" actId="478"/>
          <ac:spMkLst>
            <pc:docMk/>
            <pc:sldMk cId="3087483314" sldId="266"/>
            <ac:spMk id="26" creationId="{9377609A-E590-086B-98D7-2D454BB4FF5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2C50"/>
                </a:solidFill>
                <a:latin typeface="Calibri"/>
              </a:defRPr>
            </a:pPr>
            <a:r>
              <a:rPr lang="fr-FR" sz="1100" b="0" i="0" u="none" strike="noStrike">
                <a:solidFill>
                  <a:srgbClr val="002C50"/>
                </a:solidFill>
                <a:latin typeface="Calibri"/>
              </a:rPr>
              <a:t>Position nette par entité après loyers, S1 à S4 (MFCFA)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Position S1 à S4</c:v>
                </c:pt>
              </c:strCache>
            </c:strRef>
          </c:tx>
          <c:spPr>
            <a:solidFill>
              <a:srgbClr val="5E9B7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E9B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46B-4478-AE89-ABE93E009289}"/>
              </c:ext>
            </c:extLst>
          </c:dPt>
          <c:dPt>
            <c:idx val="1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6B-4478-AE89-ABE93E009289}"/>
              </c:ext>
            </c:extLst>
          </c:dPt>
          <c:dPt>
            <c:idx val="2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46B-4478-AE89-ABE93E009289}"/>
              </c:ext>
            </c:extLst>
          </c:dPt>
          <c:dPt>
            <c:idx val="3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46B-4478-AE89-ABE93E009289}"/>
              </c:ext>
            </c:extLst>
          </c:dPt>
          <c:dPt>
            <c:idx val="4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46B-4478-AE89-ABE93E009289}"/>
              </c:ext>
            </c:extLst>
          </c:dPt>
          <c:dPt>
            <c:idx val="5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46B-4478-AE89-ABE93E009289}"/>
              </c:ext>
            </c:extLst>
          </c:dPt>
          <c:dPt>
            <c:idx val="6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46B-4478-AE89-ABE93E009289}"/>
              </c:ext>
            </c:extLst>
          </c:dPt>
          <c:dPt>
            <c:idx val="7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46B-4478-AE89-ABE93E009289}"/>
              </c:ext>
            </c:extLst>
          </c:dPt>
          <c:dPt>
            <c:idx val="8"/>
            <c:invertIfNegative val="0"/>
            <c:bubble3D val="0"/>
            <c:spPr>
              <a:solidFill>
                <a:srgbClr val="B326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46B-4478-AE89-ABE93E009289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PICI</c:v>
                </c:pt>
                <c:pt idx="1">
                  <c:v>ODALYS CI</c:v>
                </c:pt>
                <c:pt idx="2">
                  <c:v>AB CENTER</c:v>
                </c:pt>
                <c:pt idx="3">
                  <c:v>RHD CI</c:v>
                </c:pt>
                <c:pt idx="4">
                  <c:v>IMMONEUF</c:v>
                </c:pt>
                <c:pt idx="5">
                  <c:v>RIVIERA</c:v>
                </c:pt>
                <c:pt idx="6">
                  <c:v>FIRST</c:v>
                </c:pt>
                <c:pt idx="7">
                  <c:v>FINAFRICA</c:v>
                </c:pt>
                <c:pt idx="8">
                  <c:v>TERASSON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-3.5</c:v>
                </c:pt>
                <c:pt idx="2">
                  <c:v>-6.3</c:v>
                </c:pt>
                <c:pt idx="3">
                  <c:v>-50</c:v>
                </c:pt>
                <c:pt idx="4">
                  <c:v>-66</c:v>
                </c:pt>
                <c:pt idx="5">
                  <c:v>-87.3</c:v>
                </c:pt>
                <c:pt idx="6">
                  <c:v>-175.3</c:v>
                </c:pt>
                <c:pt idx="7">
                  <c:v>-198.7</c:v>
                </c:pt>
                <c:pt idx="8">
                  <c:v>-206.4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46B-4478-AE89-ABE93E0092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"/>
          <c:min val="-27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2C50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02C50"/>
                </a:solidFill>
                <a:latin typeface="Calibri"/>
              </a:rPr>
              <a:t>Trésorerie dédiée et besoin cumulé (MFCFA)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Trésorerie dédiée</c:v>
                </c:pt>
              </c:strCache>
            </c:strRef>
          </c:tx>
          <c:spPr>
            <a:solidFill>
              <a:srgbClr val="002C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TERASSON</c:v>
                  </c:pt>
                  <c:pt idx="1">
                    <c:v>RIVIERA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1482</c:v>
                </c:pt>
                <c:pt idx="1">
                  <c:v>2643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Besoin cumulé fin sept.</c:v>
                </c:pt>
              </c:strCache>
            </c:strRef>
          </c:tx>
          <c:spPr>
            <a:solidFill>
              <a:srgbClr val="E8B4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TERASSON</c:v>
                  </c:pt>
                  <c:pt idx="1">
                    <c:v>RIVIERA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2082</c:v>
                </c:pt>
                <c:pt idx="1">
                  <c:v>1885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Besoin cumulé fin oct.</c:v>
                </c:pt>
              </c:strCache>
            </c:strRef>
          </c:tx>
          <c:spPr>
            <a:solidFill>
              <a:srgbClr val="D073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TERASSON</c:v>
                  </c:pt>
                  <c:pt idx="1">
                    <c:v>RIVIERA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2572</c:v>
                </c:pt>
                <c:pt idx="1">
                  <c:v>3153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Besoin cumulé fin nov.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TERASSON</c:v>
                  </c:pt>
                  <c:pt idx="1">
                    <c:v>RIVIERA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3810</c:v>
                </c:pt>
                <c:pt idx="1">
                  <c:v>3608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314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Couverture. Position de trésorerie au 30/09/2026 ; échéancier de l'audit des décaissements du 30/09/2026 (v10). Présentation générée automatiquement à partir des fichiers Excel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Besoins = RECAP semaine hors intragroupe (S1 à S4). Fournisseurs échus = balance âgée (total – non échu), qui correspond à l'échéancier S1. Impôts et cotisations = somme des lignes de détail du recap. Remboursement de prêts = intérêts + capital emprunté, hors prêts rattachés aux projets (voir projets).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Fournisseurs échus = balance âgée (total – non échu), hors intragroupe ; Top 10 par entité = 10 plus gros échus de l'entité (« Autres » = reste). Impôts et cotisations = S1 de l'audit, qui reporte les arriérés dans la semaine d'analyse. Salaires et remboursements de prêts pris sur S1 à S4.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Trésorerie dédiée = comptes classés « Dédié besoin de fonctionnement » dans la position CI au 30/09/2026 ; fonds à destination non tranchée non comptés (BNI-RIVIERA(Courant) 1 772,0 M). Position = trésorerie + loyers – besoin, sans compensation entre entités. Loyers FIRST = colonne octobre 2026 de l'état prévisionnel des encaissements, hors loyers déjà encaissés (SIEMENS 6,1 M) ; les loyers antérieurs sont supposés déjà encaissés dans les soldes. Dates d'encaissement non précisées dans l'état : à confirmer pour le phasage.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Déficit par entité = besoin – trésorerie dédiée – loyers à encaisser (FIRST uniquement), sans compensation. T1 = déficit sur le besoin S1 (échu + semaine en cours) ; T2 = complément S2 à S4. Les fonds hors projet (DSR, augmentation, LL, disbursement, comptes bloqués) ne sont pas affectés au BFR. Apports en compte courant et avances intragroupe non envisagés.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de calcul : feuille « Marchés et Dépenses HT » de chaque bilan financier (b7d831c0-2026-10-02_Village_notre_p_re_Bilan_financier.xlsm ; 3f5ff12c-2026-10-02_RIVIERA_Bilan_financier.xlsm), ligne TOTAL et sections, colonnes septembre à novembre 2026. Montants en € HT convertis à 655,957 FCFA / €. Ce sont les montants communiqués par la Direction de programme (Village Notre Père 5 808 K€ HT, Riviera Park 5 501 K€ HT). Frais financiers = section FFI (intérêts sur compte courant, produits financiers, frais intercalaires, commissions d'engagement, coupons). Les remboursements de prêts TERASSON / RIVIERA du recap ne sont pas ajoutés (déjà couverts par cette section) et restent hors fonctionnement.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06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Lignes de la feuille « Marchés et Dépenses HT » des bilans financiers, classées par montant HT cumulé sur septembre à novembre 2026. Les lignes négatives (exonérations douanières, produits financiers) sont comprises dans « Autres lignes ». Montants convertis à 655,957 FCFA / 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Trésorerie dédiée = comptes « Dédié paiement CPI » de la position CI au 30/09/2026. Besoin cumulé = total mensuel HT des cash plans (« Marchés et Dépenses HT »), converti à 655,957 FCFA / €, cumulé depuis septembre ; la TVA, réglée en TTC, n'est pas comprise. Aucune compensation entre projets. Les autres fonds (DSRA, comptes courants à destination non tranchée) ne sont pas comptés.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de suivi à alimenter par projet. Besoin à financer = besoin septembre à novembre 2026 – trésorerie dédiée (cash plans HT convertis à 655,957 FCFA / €).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C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371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SOCIÉTÉS RCI – TRÉSORERIE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2880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financement : fonctionnement et projets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8404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au 30/09/2026 – échéancier S1 à S4 (28/09 → 25/10/2026)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43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Trésorerie &amp; Financement – Groupe Duval Afrique  |  Octobre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de trésorerie au 30/09/2026 – fonctionnement : échéancier S1 à S4 ; projets : cash plans septembre à novembre 2026 – montants en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68112" cy="4480560"/>
          </a:xfrm>
          <a:prstGeom prst="roundRect">
            <a:avLst>
              <a:gd name="adj" fmla="val 12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Besoin de financement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762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: charges de structure et charges courantes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788920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889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des besoins par entité (codes urgence)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410712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77240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41071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Top 10 des urgences fournisseurs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032504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77724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3250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disponible dédiée au fonctionnement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4654296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777240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65429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de financement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généraux, charges fiscales et sociales, salaires, remboursement de prêts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463040"/>
            <a:ext cx="5468112" cy="4480560"/>
          </a:xfrm>
          <a:prstGeom prst="roundRect">
            <a:avLst>
              <a:gd name="adj" fmla="val 12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583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Besoin de projets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1762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plans septembre à novembre 2026, trésorerie dédiée CPI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0" y="2788920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58368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27889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sur 3 mois par projet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0" y="3410712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6583680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41071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Top 10 des postes par projet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83680" y="4032504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658368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03250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et couverture mensuelle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583680" y="4654296"/>
            <a:ext cx="420624" cy="420624"/>
          </a:xfrm>
          <a:prstGeom prst="ellipse">
            <a:avLst/>
          </a:prstGeom>
          <a:solidFill>
            <a:srgbClr val="002C50"/>
          </a:solidFill>
          <a:ln w="635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6583680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465429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financements en cours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(TERASSON) et Riviera Park (RIVIERA)</a:t>
            </a:r>
            <a:endParaRPr lang="en-US" sz="105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fonctionnement – 1. Situation par entité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de structure et charges courantes, S1 à S4 (28/09 → 25/10/2026) –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94360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1 568,4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fonctionnement S1 à S4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456432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1 227,9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régler dès S1 (échu + semaine en cours)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318504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141,2 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déjà échus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9180576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875,3 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Impôts, cotisations et salaires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74552" cy="24688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échus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à échoir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Impôts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637,4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Cotisations sociales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Salaires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Remboursement de prêts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S1 à S4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1 568,4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dont à régler en 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1 227,9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919472"/>
            <a:ext cx="201168" cy="146304"/>
          </a:xfrm>
          <a:prstGeom prst="rect">
            <a:avLst/>
          </a:prstGeom>
          <a:solidFill>
            <a:srgbClr val="F7E7E5"/>
          </a:solidFill>
          <a:ln w="635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731520" y="4892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déjà échus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0" y="4919472"/>
            <a:ext cx="201168" cy="146304"/>
          </a:xfrm>
          <a:prstGeom prst="rect">
            <a:avLst/>
          </a:prstGeom>
          <a:solidFill>
            <a:srgbClr val="FBEBD0"/>
          </a:solidFill>
          <a:ln w="635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 txBox="1"/>
          <p:nvPr/>
        </p:nvSpPr>
        <p:spPr>
          <a:xfrm>
            <a:off x="3017520" y="4892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Salaires, cotisations et impôts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03520" y="4919472"/>
            <a:ext cx="201168" cy="146304"/>
          </a:xfrm>
          <a:prstGeom prst="rect">
            <a:avLst/>
          </a:prstGeom>
          <a:solidFill>
            <a:srgbClr val="D6E2EE"/>
          </a:solidFill>
          <a:ln w="635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 txBox="1"/>
          <p:nvPr/>
        </p:nvSpPr>
        <p:spPr>
          <a:xfrm>
            <a:off x="5577840" y="4892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Remboursement de prêts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5230368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concentrée sur FIRST 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448,1 M de remboursements de prêts (29 % du besoin total), dont 129,6 M couverts par les loyers à encaisser.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Échu fournisseurs 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 M sur FINAFRICA et 43,8 M sur PICI, soit 65 % des 141,2 M échus.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 et cotisations 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(254,9 M), PICI (218,5 M), FINAFRICA (136,1 M) portent l'essentiel (77 % de 789,5 M) ; les salaires (85,8 M) tombent en S4.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14476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financiers des prêts de TERASSON et RIVIERA (220,4 M) rattachés aux projets : voir slide 7. Hors droits d'enregistrement (1 715,3 M, essentiellement TERASSON et RIVIERA) et hors intragroupe.</a:t>
            </a:r>
            <a:endParaRPr lang="en-US" sz="9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fonctionnement – 2. Top 10 des urgences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Urgences par entité : fournisseurs échus, impôts et cotisations échus, salaires et remboursements de prêts – MFCFA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des urgences par entité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682568"/>
              </p:ext>
            </p:extLst>
          </p:nvPr>
        </p:nvGraphicFramePr>
        <p:xfrm>
          <a:off x="457200" y="1600200"/>
          <a:ext cx="6492240" cy="3218688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</a:t>
                      </a: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échus</a:t>
                      </a: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fourn. échus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Impôts échus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Cotisations sociales échues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Rembours. de prêts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urgences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1 412,5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178040" y="128016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des fournisseurs échus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600200"/>
          <a:ext cx="4553712" cy="329184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61 j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 Yapo Koyo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divers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LOXEA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C2A Conseil Associés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LOXEA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divers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SODECI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MONDON CONSEIL INTERNATIONAL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Forvis Mazars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Cabinet J-L Ruelle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5074920"/>
            <a:ext cx="11247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des urgences : 1 412,5 M.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(469,6 M, dont 448,1 M de prêts) et PICI (271,2 M) concentrent 52 % du total. Les loyers FIRST à encaisser (129,6 M) couvrent 29 % de ses 448,1 M de prêts.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 échus 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141,2 M, dont 8 des 10 premières lignes ont plus de 61 jours ; Me Yapo Koyo (19,8 M, 4 entités), LOXEA (18,4 M, 2 entités) et C2A Conseil Associés (13,6 M, 2 entités) se retrouvent sur plusieurs entités.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échoir, à surveiller : </a:t>
            </a: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– Redevance Diaby 42,5 M (S2) et Visuel 17,7 M (S3). Deux lignes « Fournisseurs divers » (FINAFRICA 10,7 M ; PICI 7,7 M) sont à détailler avant décaissement.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14476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 et cotisations échus = montants de S1 (arriérés et semaine en cours) ; salaires et remboursements de prêts = S1 à S4. Hors intragroupe et hors droits d'enregistrement.</a:t>
            </a:r>
            <a:endParaRPr lang="en-US" sz="9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5608" y="914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fonctionnement – 3. Trésorerie disponible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dédiés au 30/09/2026 et loyers FIRST à encaisser, comparés aux besoins S1 à S4 – MFCFA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6126480" cy="3154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 S1-S4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 dédiée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Loyers à encaisser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S1-S4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-129,3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-198,7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-129,1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1 568,4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-693,5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812280" y="1234440"/>
          <a:ext cx="49377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51206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6F0EA"/>
          </a:solidFill>
          <a:ln w="12700">
            <a:solidFill>
              <a:srgbClr val="E6F0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3"/>
          <p:cNvSpPr txBox="1"/>
          <p:nvPr/>
        </p:nvSpPr>
        <p:spPr>
          <a:xfrm>
            <a:off x="566928" y="51755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+100,0 M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561441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Excédents PICI, conservés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606040" y="51206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7E7E5"/>
          </a:solidFill>
          <a:ln w="12700">
            <a:solidFill>
              <a:srgbClr val="F7E7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 txBox="1"/>
          <p:nvPr/>
        </p:nvSpPr>
        <p:spPr>
          <a:xfrm>
            <a:off x="2715768" y="51755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-793,5 M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2715768" y="561441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Déficits cumulés, 8 entités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754880" y="51206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 txBox="1"/>
          <p:nvPr/>
        </p:nvSpPr>
        <p:spPr>
          <a:xfrm>
            <a:off x="4864608" y="51755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-693,5 M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864608" y="561441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nette, sans compensation entre entités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6949440" y="434340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Loyers FIRST : 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129,6 M à encaisser en octobre (DC/BR 40,1 ; JESA 37,7 ; LOG IVOIRE 20,0 ; ITOCHU 18,9 ; SBS 6,9 ; M&amp;H 6,0), affectés au service de la dette. Les loyers de septembre et ceux déjà réglés (SIEMENS) sont déjà en trésorerie.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compté : </a:t>
            </a: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638,3 M d'impayés antérieurs (État 524,0 ; LOG IVOIRE 73,2 ; GMK 37,3, bail résilié) et le loyer annuel de l'État (349,7 M) attendu en novembre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arbitrer : 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BNI-RIVIERA(Courant) (RIVIERA, 1 772,0 M), destination « placement ou fonctionnement » non tranchée dans la position : non comptés. Ils couvriraient le déficit RIVIERA (87,3 M).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périmètre : </a:t>
            </a: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1 195,6 M de fonds dédiés DSR, augmentation, LL et disbursement, ni comptés ni affectés au BFR.</a:t>
            </a:r>
            <a:endParaRPr lang="en-US" sz="10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fonctionnement – 4. Recommandation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 spot en solution principale, appel de fonds en appui – MFCFA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76072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 en déficit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urgences 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S2 à S4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629,3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06240"/>
            <a:ext cx="5760720" cy="2057400"/>
          </a:xfrm>
          <a:prstGeom prst="roundRect">
            <a:avLst>
              <a:gd name="adj" fmla="val 2667"/>
            </a:avLst>
          </a:prstGeom>
          <a:solidFill>
            <a:srgbClr val="002C50"/>
          </a:solidFill>
          <a:ln w="12700">
            <a:solidFill>
              <a:srgbClr val="002C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640080" y="429768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attendues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Engager un spot par entité en déficit, tiré par tranche : T1 pour les urgences S1, T2 à l'échéance.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Constituer en priorité les dossiers de TERASSON, FINAFRICA, FIRST (73 % du besoin spot).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Affecter les loyers FIRST encaissés (129,6 M) au service de la dette et relancer l'État (524,0 M d'impayés ; loyer annuel de 349,7 M attendu en novembre).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Arbitrer l'affectation du compte BNI-RIVIERA(Courant) (1 772,0 M, placement ou fonctionnement) : affecté au fonctionnement, il couvre le déficit RIVIERA (87,3 M) sans spot.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l'appel de fonds comme solution de repli si le spot n'est pas obtenu pour S1.</a:t>
            </a:r>
            <a:endParaRPr lang="en-US" sz="1000" dirty="0"/>
          </a:p>
        </p:txBody>
      </p:sp>
      <p:sp>
        <p:nvSpPr>
          <p:cNvPr id="4" name="Shape 4"/>
          <p:cNvSpPr/>
          <p:nvPr/>
        </p:nvSpPr>
        <p:spPr>
          <a:xfrm>
            <a:off x="6446520" y="1325880"/>
            <a:ext cx="5285232" cy="2148840"/>
          </a:xfrm>
          <a:prstGeom prst="roundRect">
            <a:avLst>
              <a:gd name="adj" fmla="val 2553"/>
            </a:avLst>
          </a:prstGeom>
          <a:solidFill>
            <a:srgbClr val="E6F0EA"/>
          </a:solidFill>
          <a:ln w="12700">
            <a:solidFill>
              <a:srgbClr val="E6F0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6629400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– Crédit spot bancaire · recommandé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058400" y="13990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793,5 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7830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principale : un dossier par entité en déficit. T1 urgences S1 : 629,3 M ; T2 S2 à S4 : 164,3 M, tiré à l'échéance. Besoin de FIRST net des loyers à encaisser. Remboursement à la mise en place des financements identifiés ; aucun apport en compte courant ni avance intragroupe.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46520" y="3657600"/>
            <a:ext cx="5285232" cy="2148840"/>
          </a:xfrm>
          <a:prstGeom prst="roundRect">
            <a:avLst>
              <a:gd name="adj" fmla="val 255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6629400" y="3749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– Appel de fonds · appui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0" y="373075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arbitrer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41148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 si le spot tarde pour S1, ou pour la part structurelle liée aux prêts : FIRST 448,1 M (dont 129,6 M couverts par les loyers). Montant et calendrier à valider avec les actionnaires.</a:t>
            </a:r>
            <a:endParaRPr lang="en-US" sz="1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projets – 1. Besoin sur 3 mois par projet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plans de la Direction de programme (bilans financiers du 02/10/2026), septembre à novembre 2026 – € HT convertis en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7 418,4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projets septembre à novembre 2026 (11 309 K€ HT)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3 810,1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(TERASSON) : 5 808 K€ HT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18504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3 608,3 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Park (RIVIERA) : 5 501 K€ HT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0576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791,0 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frais financiers (+ 823,6 M de due diligence en autres dépenses)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7455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804672"/>
                <a:gridCol w="804672"/>
                <a:gridCol w="804672"/>
                <a:gridCol w="914400"/>
                <a:gridCol w="804672"/>
                <a:gridCol w="804672"/>
                <a:gridCol w="804672"/>
                <a:gridCol w="914400"/>
                <a:gridCol w="10515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Notre Père (TERASSON)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Park (RIVIERA)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 (MFCFA)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vMerge="1">
                  <a:tcPr/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Travaux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934,7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454,0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522,6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1 911,3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1 641,7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851,0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2 892,8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4 804,1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Honoraires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dépenses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923,4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Honoraires de vente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financiers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791,0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2 081,5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1 238,5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3 810,1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1 885,3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1 267,9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3 608,3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7 418,4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K€ 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3 173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5 808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2 874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5 501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11 309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4864608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3 810,1 M, dont 1 911,3 M de travaux (50 %) ; premier poste : Gros œuvre &amp; installation de chantier 1 165,2 M ; pic en septembre (2 081,5 M).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Park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3 608,3 M, dont 2 892,8 M de travaux (80 %) ; premier poste : Gros oeuvre 1 455,9 M ; pic en septembre (1 885,3 M).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financiers inclus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791,0 M (TERASSON 358,2 M ; RIVIERA 432,8 M) : coupons, frais intercalaires et commissions d'engagement, isolés ci-dessus. S'y ajoutent, classés en autres dépenses, Autres frais financiers (Frais de Due Diligence) 823,6 M (TERASSON). Les frais de prêts du recap (IFC 32,9 M ; BNI 187,5 M) en relèvent et ne sont pas ajoutés.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HT (TVA en sus), mois septembre à novembre 2026 des cash plans recalés, logique des montants communiqués par la Direction de programme. Pour mémoire, l'audit S1 à S4 retient 3 771,3 M TTC sur les projets.</a:t>
            </a:r>
            <a:endParaRPr lang="en-US" sz="10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projets – 2. Top 10 des postes par projet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du cash plan les plus lourdes sur septembre à novembre 2026 (montants HT) – MFCFA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Village Notre Père · 3 810,1 M sur 3 mois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55321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1920240"/>
                <a:gridCol w="685800"/>
                <a:gridCol w="640080"/>
                <a:gridCol w="640080"/>
                <a:gridCol w="640080"/>
                <a:gridCol w="73152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 œuvre &amp; installation de chan…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1 165,2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frais financiers (Frais de…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823,6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823,6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FF&amp;E 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CFA /SSI /GTB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Fonds de concours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intercalaires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Financiers Coupons Invest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Serrurerie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 / MOE / SSI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Sous-total Top 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1 886,8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393,3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1 037,0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3 317,1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lignes (21)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493,0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2 081,5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1 238,5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3 810,1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199632" y="12801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Riviera Park · 3 608,3 M sur 3 mois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645920"/>
          <a:ext cx="553212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1920240"/>
                <a:gridCol w="685800"/>
                <a:gridCol w="640080"/>
                <a:gridCol w="640080"/>
                <a:gridCol w="640080"/>
                <a:gridCol w="73152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 oeuvre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707,6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1 455,9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intercalaires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Charpente metallique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VRD - Espaces verts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UNISERV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308,4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- Courants forts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Couverture &amp; Bardage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Plomberie RIA - FC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Fondations spéciales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Financiers Coupons Invest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Climatisation &amp; Ventilation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Sous-total Top 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1 530,0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1 146,3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531,3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3 207,6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E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lignes (23)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355,3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-76,3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1 885,3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1 267,9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3 608,3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Notre Père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Top 10 représente 87 % du besoin (3 317,1 M) ; Gros œuvre &amp; installation de chantier 1 165,2 M, Autres frais financiers (Frais de Due Diligence) (DWF) 823,6 M et FF&amp;E RT 235,3 M.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Park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Top 10 représente 89 % du besoin (3 207,6 M) ; Gros oeuvre 1 455,9 M, Frais intercalaires 331,3 M et Charpente metallique 325,9 M.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projets – 3. Trésorerie disponible et couverture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dédiés CPI au 30/09/2026 comparés au besoin cumulé des cash plans, septembre à novembre 2026 –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4 125,0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projets (CPI)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7 418,4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cumulé septembre à novembre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18504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-3 293,3 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fin novembre (sans compensation)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0576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: mois où la trésorerie dédiée est épuisée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70408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990600"/>
                <a:gridCol w="990600"/>
                <a:gridCol w="99060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 dédiée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 fin sept.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 fin oct.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 fin nov.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fin nov.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BNI-TERASSON / Fonds proj…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1 481,9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2 081,5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2 571,6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3 810,1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-2 328,2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BNI-PICI / Fonds projet 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2 643,1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1 885,3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3 153,2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3 608,3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-965,2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4 125,0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3 966,8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5 724,8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7 418,4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-3 293,3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4096512"/>
            <a:ext cx="201168" cy="146304"/>
          </a:xfrm>
          <a:prstGeom prst="rect">
            <a:avLst/>
          </a:prstGeom>
          <a:solidFill>
            <a:srgbClr val="F7E7E5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069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cumulé &gt; trésorerie dédiée</a:t>
            </a:r>
            <a:endParaRPr lang="en-US" sz="9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79976"/>
          <a:ext cx="70408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100584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fonds des entités projets (non comptés)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 (position)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MFCFA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– BNI-RIVIERA(Courant)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Affection placement? Ou besoin de fonctionn… (à arbitrer)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1 772,0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– BNI-RIVIERA(DSRA) / Placement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DSR/Augmentation/LL/Disbursment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776,1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Chart 0" descr=""/>
          <p:cNvGraphicFramePr/>
          <p:nvPr/>
        </p:nvGraphicFramePr>
        <p:xfrm>
          <a:off x="7726680" y="219456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 16"/>
          <p:cNvSpPr txBox="1"/>
          <p:nvPr/>
        </p:nvSpPr>
        <p:spPr>
          <a:xfrm>
            <a:off x="457200" y="5486400"/>
            <a:ext cx="11247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de 1 481,9 M épuisée en septembre (besoin du mois 2 081,5 M) ; 2 328,2 M à financer d'ici fin novembre.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dédiée de 2 643,1 M épuisée en octobre (besoin cumulé 3 153,2 M) ; 965,2 M à financer d'ici fin novembre.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arbitrer : </a:t>
            </a:r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BNI-RIVIERA(Courant) (1 772,0 M, « placement ou fonctionnement ») couvrirait le besoin RIVIERA (965,2 M) s'il était affecté au projet.</a:t>
            </a:r>
            <a:endParaRPr lang="en-US" sz="10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projets – 4. Suivi des financements en cours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à alimenter par projet –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0759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2 328,2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TERASSON : à financer (besoin septembre à novembre 2026 – trésorerie dédiée)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9632" y="1234440"/>
            <a:ext cx="5532120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36792" y="130759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965,2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174650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: à financer (besoin septembre à novembre 2026 – trésorerie dédiée)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48840"/>
                <a:gridCol w="1234440"/>
                <a:gridCol w="1097280"/>
                <a:gridCol w="914400"/>
                <a:gridCol w="1005840"/>
                <a:gridCol w="1097280"/>
                <a:gridCol w="222199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/ 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 accordé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Déjà tiré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Reste à tirer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Prochain tirage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/ conditions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Notre Père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2C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Park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474573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à renseigner :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accordé, tirages effectués, reste à tirer, date et conditions du prochain tirage, par projet. Le besoin à financer de TERASSON (2 328,2 M sur septembre à novembre 2026) sert de cible de couverture ; le suivi se met à jour à chaque tirage.</a:t>
            </a:r>
            <a:endParaRPr lang="en-US" sz="11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3159</Words>
  <Application>Microsoft Office PowerPoint</Application>
  <PresentationFormat>Grand écran</PresentationFormat>
  <Paragraphs>729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Sociétés RCI – Besoins de financement : fonctionnement et projets</dc:title>
  <dc:subject>PptxGenJS Presentation</dc:subject>
  <dc:creator>KOUADIO Ange</dc:creator>
  <cp:lastModifiedBy>KOUADIO Ange</cp:lastModifiedBy>
  <cp:revision>2</cp:revision>
  <dcterms:created xsi:type="dcterms:W3CDTF">2026-10-02T15:33:31Z</dcterms:created>
  <dcterms:modified xsi:type="dcterms:W3CDTF">2026-10-02T16:13:47Z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33f31a-a91f-4b93-bbcd-5ddf027d1ae6_Enabled">
    <vt:lpwstr>true</vt:lpwstr>
  </property>
  <property fmtid="{D5CDD505-2E9C-101B-9397-08002B2CF9AE}" pid="3" name="MSIP_Label_4333f31a-a91f-4b93-bbcd-5ddf027d1ae6_SetDate">
    <vt:lpwstr>2026-10-02T15:52:49Z</vt:lpwstr>
  </property>
  <property fmtid="{D5CDD505-2E9C-101B-9397-08002B2CF9AE}" pid="4" name="MSIP_Label_4333f31a-a91f-4b93-bbcd-5ddf027d1ae6_Method">
    <vt:lpwstr>Standard</vt:lpwstr>
  </property>
  <property fmtid="{D5CDD505-2E9C-101B-9397-08002B2CF9AE}" pid="5" name="MSIP_Label_4333f31a-a91f-4b93-bbcd-5ddf027d1ae6_Name">
    <vt:lpwstr>C0</vt:lpwstr>
  </property>
  <property fmtid="{D5CDD505-2E9C-101B-9397-08002B2CF9AE}" pid="6" name="MSIP_Label_4333f31a-a91f-4b93-bbcd-5ddf027d1ae6_SiteId">
    <vt:lpwstr>f7e1e464-7e4d-4e93-9f42-de95ee7dcd32</vt:lpwstr>
  </property>
  <property fmtid="{D5CDD505-2E9C-101B-9397-08002B2CF9AE}" pid="7" name="MSIP_Label_4333f31a-a91f-4b93-bbcd-5ddf027d1ae6_ActionId">
    <vt:lpwstr>3560635f-d622-494a-9bdb-341daa3464b3</vt:lpwstr>
  </property>
  <property fmtid="{D5CDD505-2E9C-101B-9397-08002B2CF9AE}" pid="8" name="MSIP_Label_4333f31a-a91f-4b93-bbcd-5ddf027d1ae6_ContentBits">
    <vt:lpwstr>0</vt:lpwstr>
  </property>
  <property fmtid="{D5CDD505-2E9C-101B-9397-08002B2CF9AE}" pid="9" name="MSIP_Label_4333f31a-a91f-4b93-bbcd-5ddf027d1ae6_Tag">
    <vt:lpwstr>10, 3, 0, 1</vt:lpwstr>
  </property>
</Properties>
</file>