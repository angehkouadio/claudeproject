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Position nette par entité après loyers, S1 à S4 (MFCFA)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Position S1 à S4</c:v>
                </c:pt>
              </c:strCache>
            </c:strRef>
          </c:tx>
          <c:spPr>
            <a:solidFill>
              <a:srgbClr val="5E9B7E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9B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PICI</c:v>
                  </c:pt>
                  <c:pt idx="1">
                    <c:v>ODALYS CI</c:v>
                  </c:pt>
                  <c:pt idx="2">
                    <c:v>AB CENTER</c:v>
                  </c:pt>
                  <c:pt idx="3">
                    <c:v>RHD CI</c:v>
                  </c:pt>
                  <c:pt idx="4">
                    <c:v>IMMONEUF</c:v>
                  </c:pt>
                  <c:pt idx="5">
                    <c:v>RIVIERA</c:v>
                  </c:pt>
                  <c:pt idx="6">
                    <c:v>FIRST</c:v>
                  </c:pt>
                  <c:pt idx="7">
                    <c:v>FINAFRICA</c:v>
                  </c:pt>
                  <c:pt idx="8">
                    <c:v>TERASSON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</c:v>
                </c:pt>
                <c:pt idx="1">
                  <c:v>-3.5</c:v>
                </c:pt>
                <c:pt idx="2">
                  <c:v>-6.3</c:v>
                </c:pt>
                <c:pt idx="3">
                  <c:v>-50</c:v>
                </c:pt>
                <c:pt idx="4">
                  <c:v>-66</c:v>
                </c:pt>
                <c:pt idx="5">
                  <c:v>-87.3</c:v>
                </c:pt>
                <c:pt idx="6">
                  <c:v>-175.3</c:v>
                </c:pt>
                <c:pt idx="7">
                  <c:v>-198.7</c:v>
                </c:pt>
                <c:pt idx="8">
                  <c:v>-206.4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-2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Trésorerie dédiée et besoins (MFCFA)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Trésorerie dédiée</c:v>
                </c:pt>
              </c:strCache>
            </c:strRef>
          </c:tx>
          <c:spPr>
            <a:solidFill>
              <a:srgbClr val="002C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1482</c:v>
                </c:pt>
                <c:pt idx="1">
                  <c:v>2643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Besoin S1-S4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2077</c:v>
                </c:pt>
                <c:pt idx="1">
                  <c:v>1915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Coût restant</c:v>
                </c:pt>
              </c:strCache>
            </c:strRef>
          </c:tx>
          <c:spPr>
            <a:solidFill>
              <a:srgbClr val="A9C1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5241</c:v>
                </c:pt>
                <c:pt idx="1">
                  <c:v>2688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9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Couverture. Position de trésorerie au 30/09/2026 ; échéancier de l'audit des décaissements du 30/09/2026 (v10). Présentation générée automatiquement à partir des fichiers Excel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Besoins = RECAP semaine hors intragroupe (S1 à S4). Fournisseurs échus = balance âgée (total – non échu), qui correspond à l'échéancier S1. Impôts et cotisations = somme des lignes de détail du recap. Remboursement de prêts = intérêts + capital emprunté, hors prêts rattachés aux projets (voir projets).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Fournisseurs échus = balance âgée (total – non échu), hors intragroupe ; Top 10 par entité = 10 plus gros échus de l'entité (« Autres » = reste). Impôts et cotisations = S1 de l'audit, qui reporte les arriérés dans la semaine d'analyse. Salaires et remboursements de prêts pris sur S1 à S4.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classés « Dédié besoin de fonctionnement » dans la position CI au 30/09/2026 ; fonds à destination non tranchée non comptés (BNI-RIVIERA(Courant) 1 772,0 M). Position = trésorerie + loyers – besoin, sans compensation entre entités. Loyers FIRST = colonne octobre 2026 de l'état prévisionnel des encaissements, hors loyers déjà encaissés (SIEMENS 6,1 M) ; les loyers antérieurs sont supposés déjà encaissés dans les soldes. Dates d'encaissement non précisées dans l'état : à confirmer pour le phasage.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Déficit par entité = besoin – trésorerie dédiée – loyers à encaisser (FIRST uniquement), sans compensation. T1 = déficit sur le besoin S1 (échu + semaine en cours) ; T2 = complément S2 à S4. Les fonds hors projet (DSR, augmentation, LL, disbursement, comptes bloqués) ne sont pas affectés au BFR. Apports en compte courant et avances intragroupe non envisagés.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Échu = échéances antérieures à la date d'analyse (30/09/2026), reportées en S1 dans PICI Projets. « À vérifier » = lignes au statut « ÉCHU - À VÉRIFIER » du cash-plan. Plusieurs lignes échues sont des estimations calendaires (avances, situations de travaux) : confirmer avant décaissement. Coût restant = toutes échéances, au-delà de l'horizon compris, plus les frais de prêts rattachés aux projets (échéancier des prêts au-delà de l'horizon non fourni). Frais financiers : aucune ligne de PICI Projets n'en contient (contrôle sur les libellés) ; les lignes d'ajustement vers la cible des cash plans (écart plan / bilans, dont honoraires de vente et frais financiers) ne sont pas reprises ; les seuls frais financiers retenus sont ceux du recap des prêts, isolés dans leur colonne. Le niveau communiqué par la Direction de programme est donné pour information (K€ HT sur 3 mois, converti à 655,957 FCFA / €) ; il n'entre dans aucun calcul.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Montants cumulés par fournisseur sur toutes ses lignes de la feuille Répartition CHARGE des projets, classés par échu. La colonne S1-S4 inclut l'échu reporté en S1.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classés « Dédié paiement CPI » dans la position CI. Réserves DSRA et comptes bloqués exclus. Les besoins incluent les frais de prêts rattachés aux projets (recap), aucun frais financier ne figurant dans PICI Projets. Établissements : trésorerie détenue (position) et prêteurs (recap).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de suivi à alimenter. Pré-renseigné d'après le recap des prêts (service de la dette, commissions) et la position (comptes Augmentation) : à confirmer.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financement : fonctionnement et projets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S4 (28/09 → 25/10/2026)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S4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financement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charges de structure et charges courantes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besoins par entité (codes urgence)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urgences fournisseurs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disponible dédiée au fonctionnement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financement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généraux, charges fiscales et sociales, salaires, remboursement de prêts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Besoin de projets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financés par la trésorerie dédiée CPI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besoins par entité (échu)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urgences par entité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disponible dédiée aux projets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58368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financements en cours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et Riviera Park (RIVIERA)</a:t>
            </a:r>
            <a:endParaRPr lang="en-US" sz="10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1. Situation par entité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de structure et charges courantes, S1 à S4 (28/09 → 25/10/2026)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1 568,4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fonctionnement S1 à S4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1 227,9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(échu + semaine en cours)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875,3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Impôts, cotisations et salaires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121615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échus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à échoir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Remboursement de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à régler en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1 227,9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919472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43200" y="4919472"/>
            <a:ext cx="201168" cy="146304"/>
          </a:xfrm>
          <a:prstGeom prst="rect">
            <a:avLst/>
          </a:prstGeom>
          <a:solidFill>
            <a:srgbClr val="FBEBD0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Salaires, cotisations et impôts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03520" y="4919472"/>
            <a:ext cx="201168" cy="146304"/>
          </a:xfrm>
          <a:prstGeom prst="rect">
            <a:avLst/>
          </a:prstGeom>
          <a:solidFill>
            <a:srgbClr val="D6E2EE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7784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de prêts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5230368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 concentrée sur FIRST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448,1 M de remboursements de prêts (29 % du besoin total), dont 129,6 M couverts par les loyers à encaisser.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Échu fournisseurs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48,2 M sur FINAFRICA et 43,8 M sur PICI, soit 65 % des 141,2 M échus.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(254,9 M), PICI (218,5 M), FINAFRICA (136,1 M) portent l'essentiel (77 % de 789,5 M) ; les salaires (85,8 M) tombent en S4.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des prêts de TERASSON et RIVIERA (220,4 M) rattachés aux projets : voir slide 7. Hors droits d'enregistrement (1 715,3 M, essentiellement TERASSON et RIVIERA) et hors intragroupe.</a:t>
            </a:r>
            <a:endParaRPr lang="en-US" sz="9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2. Top 10 des urgences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par entité : fournisseurs échus, impôts et cotisations échus, salaires et remboursements de prêts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par entité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492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68680"/>
                <a:gridCol w="731520"/>
                <a:gridCol w="731520"/>
                <a:gridCol w="868680"/>
                <a:gridCol w="731520"/>
                <a:gridCol w="77724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 fournisseurs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fourn.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 échues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de prêts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1 412,5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78040" y="12801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des fournisseurs échus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553712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868680"/>
                <a:gridCol w="1828800"/>
                <a:gridCol w="777240"/>
                <a:gridCol w="80467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61 j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 Yapo Koyo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C2A Conseil Associés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SODECI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MONDON CONSEIL INTERNATIONAL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Forvis Mazars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Cabinet J-L Ruelle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074920"/>
            <a:ext cx="11247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: 1 412,5 M.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(469,6 M, dont 448,1 M de prêts) et PICI (271,2 M) concentrent 52 % du total. Les loyers FIRST à encaisser (129,6 M) couvrent 29 % de ses 448,1 M de prêts.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M, dont 8 des 10 premières lignes ont plus de 61 jours ; Me Yapo Koyo (19,8 M, 4 entités), LOXEA (18,4 M, 2 entités) et C2A Conseil Associés (13,6 M, 2 entités) se retrouvent sur plusieurs entités.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échoir, à surveiller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– Redevance Diaby 42,5 M (S2) et Visuel 17,7 M (S3). Deux lignes « Fournisseurs divers » (FINAFRICA 10,7 M ; PICI 7,7 M) sont à détailler avant décaissement.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échus = montants de S1 (arriérés et semaine en cours) ; salaires et remboursements de prêts = S1 à S4. Hors intragroupe et hors droits d'enregistrement.</a:t>
            </a:r>
            <a:endParaRPr lang="en-US" sz="9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3. Trésorerie disponible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au 30/09/2026 et loyers FIRST à encaisser, comparés aux besoins S1 à S4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005840"/>
                <a:gridCol w="91440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Loyers à encaisser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812280" y="123444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6692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+100,0 M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PICI, conservés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260604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7E7E5"/>
          </a:solidFill>
          <a:ln w="12700">
            <a:solidFill>
              <a:srgbClr val="F7E7E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71576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-793,5 M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271576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cumulés, 8 entités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6460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-693,5 M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nette, sans compensation entre entités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434340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Loyers FIRST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129,6 M à encaisser en octobre (DC/BR 40,1 ; JESA 37,7 ; LOG IVOIRE 20,0 ; ITOCHU 18,9 ; SBS 6,9 ; M&amp;H 6,0), affectés au service de la dette. Les loyers de septembre et ceux déjà réglés (SIEMENS) sont déjà en trésorerie.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compté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638,3 M d'impayés antérieurs (État 524,0 ; LOG IVOIRE 73,2 ; GMK 37,3, bail résilié) et le loyer annuel de l'État (349,7 M) attendu en novembre.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BNI-RIVIERA(Courant) (RIVIERA, 1 772,0 M), destination « placement ou fonctionnement » non tranchée dans la position : non comptés. Ils couvriraient le déficit RIVIERA (87,3 M).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1 195,6 M de fonds dédiés DSR, augmentation, LL et disbursement, ni comptés ni affectés au BFR.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4. Recommandation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 spot en solution principale, appel de fonds en appui – MFCFA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en déficit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urgences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S2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spot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06240"/>
            <a:ext cx="5760720" cy="2057400"/>
          </a:xfrm>
          <a:prstGeom prst="roundRect">
            <a:avLst>
              <a:gd name="adj" fmla="val 2667"/>
            </a:avLst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2976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Engager un spot par entité en déficit, tiré par tranche : T1 pour les urgences S1, T2 à l'échéance.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Constituer en priorité les dossiers de TERASSON, FINAFRICA, FIRST (73 % du besoin spot).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FIRST encaissés (129,6 M) au service de la dette et relancer l'État (524,0 M d'impayés ; loyer annuel de 349,7 M attendu en novembre).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Arbitrer l'affectation du compte BNI-RIVIERA(Courant) (1 772,0 M, placement ou fonctionnement) : affecté au fonctionnement, il couvre le déficit RIVIERA (87,3 M) sans spot.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l'appel de fonds comme solution de repli si le spot n'est pas obtenu pour S1.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46520" y="132588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 · recommandé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793,5 M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7830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principale : un dossier par entité en déficit. T1 urgences S1 : 629,3 M ; T2 S2 à S4 : 164,3 M, tiré à l'échéance. Besoin de FIRST net des loyers à encaisser. Remboursement à la mise en place des financements identifiés ; aucun apport en compte courant ni avance intragroupe.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365760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749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Appel de fonds · appui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37307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1148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 si le spot tarde pour S1, ou pour la part structurelle liée aux prêts : FIRST 448,1 M (dont 129,6 M couverts par les loyers). Montant et calendrier à valider avec les actionnaires.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1. Situation par entité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et Riviera Park (RIVIERA), S1 à S4 (28/09 → 25/10/2026)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3 991,7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projets S1 à S4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2 815,8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échus, soit 71 % des besoins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421,4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Échus signalés « à vérifier » avant paiement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7 929,4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restant, toutes échéances (frais financiers S1 à S4 inclus)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60704"/>
                <a:gridCol w="1060704"/>
                <a:gridCol w="1060704"/>
                <a:gridCol w="1060704"/>
                <a:gridCol w="1060704"/>
                <a:gridCol w="1463040"/>
                <a:gridCol w="914400"/>
                <a:gridCol w="13990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/ 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Coût restant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1 181,3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1 123,6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104,4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713,6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2 077,1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1 941,6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5 241,5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1 615,5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803,7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51,2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10,1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échu 874,2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2 796,8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3 991,7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7 929,4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059936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325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majoritairement échue (≥ 50 %)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261104"/>
            <a:ext cx="112471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Échu concentré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TGCC (1 109,2 M sur TERASSON) et UNISERV (803,7 M sur RIVIERA), soit 68 % de l'échu projets.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1 941,6 M échus sur 2 077,1 M (93 %), dont TGCC 1 109,2 M (6 lignes) et Me Yapo Koyo 497,9 M (1 ligne) ; 419,5 M signalés à vérifier. Frais financiers (recap des prêts) : 32,9 M (IFC – commission bancaire, S1).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874,2 M échus sur 1 914,6 M (46 %), dont UNISERV 803,7 M (3 lignes) et ZUO 29,6 M (2 lignes) ; 1,9 M signalés à vérifier. Frais financiers (recap des prêts) : 187,5 M (BNI, S4).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dans PICI Projets (travaux, honoraires, autres dépenses, foncier ; ajustements « cible » des cash plans non repris). Seuls les 220,4 M du recap des prêts figurent, isolés en colonne « Frais financiers ».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5532120"/>
            <a:ext cx="11274552" cy="777240"/>
          </a:xfrm>
          <a:prstGeom prst="rect">
            <a:avLst/>
          </a:prstGeom>
          <a:solidFill>
            <a:srgbClr val="FBEBD0"/>
          </a:solidFill>
          <a:ln w="6350">
            <a:solidFill>
              <a:srgbClr val="FBEBD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5532120"/>
            <a:ext cx="64008" cy="777240"/>
          </a:xfrm>
          <a:prstGeom prst="rect">
            <a:avLst/>
          </a:prstGeom>
          <a:solidFill>
            <a:srgbClr val="9D8C74"/>
          </a:solidFill>
          <a:ln w="6350">
            <a:solidFill>
              <a:srgbClr val="9D8C7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55778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information – niveau de besoin communiqué (L. Yahaya, cash plans recalés du 02/10/2026, 3 prochains mois)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5 808 K€ HT (≈ 3 810 M) et Riviera Park 5 500 K€ HT (≈ 3 608 M), soit 11 308 K€ HT (≈ 7 418 M).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niveaux portent sur un horizon plus long et des postes absents de l'audit (honoraires de vente, frais financiers) : la présente analyse reste sur l'horizon de l'audit, S1 à S4 (28/09 → 25/10/2026).</a:t>
            </a:r>
            <a:endParaRPr lang="en-US" sz="10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2. Top 10 des urgences par entité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cumulant le plus d'échu par projet (somme de toutes leurs lignes)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Village Notre Père · échu total 1 941,6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737360"/>
                <a:gridCol w="1417320"/>
                <a:gridCol w="548640"/>
                <a:gridCol w="77724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TGCC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1 109,2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1 162,0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 Yapo Koyo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vidéo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YABA KUMBA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SINTALI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1 999,8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1 941,6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2 077,1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99632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Riviera Park · échu total 874,2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737360"/>
                <a:gridCol w="1417320"/>
                <a:gridCol w="548640"/>
                <a:gridCol w="777240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UNISERV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1 615,5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RASCOM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vidéo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Prestataire à désigner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SOCOTEC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TRANSIT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Cabinet BKG (Brou Kou…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1 726,9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2852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dont échu signalé « à vérifier » dans le cash-plan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Top 10 couvre 98,7 % de l'échu TERASSON (1 916,6 M) et 100,0 % de l'échu RIVIERA (873,9 M).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à purger en priorité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TGCC pèse 1 109,2 M sur 6 lignes (57 % de l'échu TERASSON) ; UNISERV pèse 803,7 M sur 3 lignes (92 % de l'échu RIVIERA).</a:t>
            </a:r>
            <a:endParaRPr lang="en-US" sz="11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3. Trésorerie disponible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CPI au 30/09/2026 comparés aux besoins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4 125,0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projets (CPI)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+133,3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S1 à S4 (TERASSON + RIVIERA)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-595,2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position sur S1 à S4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-3 759,6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position sur le coût restant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7040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960120"/>
                <a:gridCol w="1005840"/>
                <a:gridCol w="9144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Coût restant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/ coût restant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projet… 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2 077,1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-595,2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5 241,5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-3 759,6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 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4 125,0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3 991,7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+133,3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7 929,4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-3 804,4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48056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Établissement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 pour les projets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MFCFA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 projets (CPI) – 2 comptes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4 125,0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Prêteur RIVIERA – frais financiers en S4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Prêteur TERASSON – frais financiers en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SG, ECOBANK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fonctionnement des entités projets (hors dédié projet)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8" name="Chart 0" descr=""/>
          <p:cNvGraphicFramePr/>
          <p:nvPr/>
        </p:nvGraphicFramePr>
        <p:xfrm>
          <a:off x="7726680" y="22402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457200" y="5468112"/>
            <a:ext cx="11247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trésorerie couvre 71 % du besoin S1 à S4 et 28 % du coût restant : 3 759,6 M restent à financer. Aucune compensation entre projets n'est supposée.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trésorerie couvre 138 % du besoin S1 à S4 et 98 % du coût restant : 44,8 M restent à financer. Aucune compensation entre projets n'est supposée.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 détient 100 % de la trésorerie dédiée aux projets (4 125,0 M) ; établissements concernés : BNI et IFC (prêteurs inclus). Les autres banques des entités projets ne portent que des comptes de fonctionnement.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4. Suivi des financements en cours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à alimenter par projet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3 759,6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à financer (coût restant – trésorerie dédiée)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6792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44,8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336792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à financer (coût restant – trésorerie dédiée)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45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48840"/>
                <a:gridCol w="1234440"/>
                <a:gridCol w="1097280"/>
                <a:gridCol w="914400"/>
                <a:gridCol w="1005840"/>
                <a:gridCol w="1097280"/>
                <a:gridCol w="222199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 / 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Prêteur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accordé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Déjà tiré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tirer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Prochain tirage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/ conditions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 du projet (à confirmer)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bancaire IFC de 32,9 M à régler en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Ligne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Augmentation (position)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 : 187,5 M à régler en S4 ; compte Augmentation à solde nul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Ligne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compléter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4573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à renseigner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accordé, tirages effectués, reste à tirer, date et conditions du prochain tirage, par projet. Le besoin à financer de TERASSON (3 759,6 M) sert de cible de couverture ; le suivi se met à jour à chaque tirage.</a:t>
            </a:r>
            <a:endParaRPr lang="en-US" sz="11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financement : fonctionnement et projets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2026-10-02T15:33:31Z</dcterms:created>
  <dcterms:modified xsi:type="dcterms:W3CDTF">2026-10-02T15:33:31Z</dcterms:modified>
</cp:coreProperties>
</file>