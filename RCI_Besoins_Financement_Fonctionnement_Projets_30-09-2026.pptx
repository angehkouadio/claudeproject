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2C50"/>
                </a:solidFill>
                <a:latin typeface="Calibri"/>
              </a:rPr>
              <a:t>Position nette par entité après loyers, S1 à S4 (MFCFA)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 S1 à S4</c:v>
                </c:pt>
              </c:strCache>
            </c:strRef>
          </c:tx>
          <c:spPr>
            <a:solidFill>
              <a:srgbClr val="5E9B7E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9B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PICI</c:v>
                  </c:pt>
                  <c:pt idx="1">
                    <c:v>ODALYS CI</c:v>
                  </c:pt>
                  <c:pt idx="2">
                    <c:v>AB CENTER</c:v>
                  </c:pt>
                  <c:pt idx="3">
                    <c:v>RHD CI</c:v>
                  </c:pt>
                  <c:pt idx="4">
                    <c:v>IMMONEUF</c:v>
                  </c:pt>
                  <c:pt idx="5">
                    <c:v>RIVIERA</c:v>
                  </c:pt>
                  <c:pt idx="6">
                    <c:v>FIRST</c:v>
                  </c:pt>
                  <c:pt idx="7">
                    <c:v>FINAFRICA</c:v>
                  </c:pt>
                  <c:pt idx="8">
                    <c:v>TERASSON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-3.5</c:v>
                </c:pt>
                <c:pt idx="2">
                  <c:v>-6.3</c:v>
                </c:pt>
                <c:pt idx="3">
                  <c:v>-50</c:v>
                </c:pt>
                <c:pt idx="4">
                  <c:v>-66</c:v>
                </c:pt>
                <c:pt idx="5">
                  <c:v>-87.3</c:v>
                </c:pt>
                <c:pt idx="6">
                  <c:v>-175.3</c:v>
                </c:pt>
                <c:pt idx="7">
                  <c:v>-198.7</c:v>
                </c:pt>
                <c:pt idx="8">
                  <c:v>-206.4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-27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2C50"/>
                </a:solidFill>
                <a:latin typeface="Calibri"/>
              </a:rPr>
              <a:t>Trésorerie dédiée et besoin cumulé (MFCFA)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Trésorerie dédiée</c:v>
                </c:pt>
              </c:strCache>
            </c:strRef>
          </c:tx>
          <c:spPr>
            <a:solidFill>
              <a:srgbClr val="002C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1482</c:v>
                </c:pt>
                <c:pt idx="1">
                  <c:v>2643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Besoin cumulé fin sept. + ant.</c:v>
                </c:pt>
              </c:strCache>
            </c:strRef>
          </c:tx>
          <c:spPr>
            <a:solidFill>
              <a:srgbClr val="E8B4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2198</c:v>
                </c:pt>
                <c:pt idx="1">
                  <c:v>1977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Besoin cumulé fin oct.</c:v>
                </c:pt>
              </c:strCache>
            </c:strRef>
          </c:tx>
          <c:spPr>
            <a:solidFill>
              <a:srgbClr val="D073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2688</c:v>
                </c:pt>
                <c:pt idx="1">
                  <c:v>3244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Besoin cumulé fin nov.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3926</c:v>
                </c:pt>
                <c:pt idx="1">
                  <c:v>3700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Couverture. Position de trésorerie au 30/09/2026 ; échéancier de l'audit des décaissements du 30/09/2026 (v10). Présentation générée automatiquement à partir des fichiers Excel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Besoins = RECAP semaine hors intragroupe (S1 à S4). Fournisseurs échus = balance âgée (total – non échu), qui correspond à l'échéancier S1. Impôts et cotisations = somme des lignes de détail du recap. Remboursement de prêts = intérêts + capital emprunté, hors prêts rattachés aux projets (voir projets).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Fournisseurs échus = balance âgée (total – non échu), hors intragroupe ; Top 10 par entité = 10 plus gros échus de l'entité (« Autres » = reste). Impôts et cotisations = S1 de l'audit, qui reporte les arriérés dans la semaine d'analyse. Salaires et remboursements de prêts pris sur S1 à S4.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classés « Dédié besoin de fonctionnement » dans la position CI au 30/09/2026 ; fonds à destination non tranchée non comptés (BNI-RIVIERA(Courant) 1 772,0 M). Position = trésorerie + loyers – besoin, sans compensation entre entités. Loyers FIRST = colonne octobre 2026 de l'état prévisionnel des encaissements, hors loyers déjà encaissés (SIEMENS 6,1 M) ; les loyers antérieurs sont supposés déjà encaissés dans les soldes. Dates d'encaissement non précisées dans l'état : à confirmer pour le phasage.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Déficit par entité = besoin – trésorerie dédiée – loyers à encaisser (FIRST uniquement), sans compensation. T1 = déficit sur le besoin S1 (échu + semaine en cours) ; T2 = complément S2 à S4. Les fonds hors projet (DSR, augmentation, LL, disbursement, comptes bloqués) ne sont pas affectés au BFR. Apports en compte courant et avances intragroupe non envisagés.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de calcul : feuille « Marchés et Dépenses HT » de chaque bilan financier (bee511f1-2026-10-02_Village_notre_p_re_Bilan_financier.xlsm ; 996d2c11-2026-10-02_RIVIERA_Bilan_financier.xlsm), ligne TOTAL et sections, colonnes septembre à novembre 2026. Montants en € HT convertis à 655,957 FCFA / €. Ce sont les montants communiqués par la Direction de programme (Village Notre Père 5 986 K€ HT, Riviera Park 5 640 K€ HT). Frais financiers = section FFI (intérêts sur compte courant, produits financiers, frais intercalaires, commissions d'engagement, coupons). Les remboursements de prêts TERASSON / RIVIERA du recap ne sont pas ajoutés (déjà couverts par cette section) et restent hors fonctionnement.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de la feuille « Marchés et Dépenses HT » des bilans financiers, classées par montant HT cumulé sur septembre à novembre 2026. Les lignes négatives (exonérations douanières, produits financiers) sont comprises dans « Autres lignes ». Montants convertis à 655,957 FCFA /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« Dédié paiement CPI » de la position CI au 30/09/2026. Besoin cumulé = total mensuel HT des cash plans (« Marchés et Dépenses HT »), converti à 655,957 FCFA / €, cumulé depuis septembre ; la TVA, réglée en TTC, n'est pas comprise. Aucune compensation entre projets. Les autres fonds (DSRA, comptes courants à destination non tranchée) ne sont pas comptés.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suivi à alimenter par projet. Besoin à financer = besoin septembre à novembre 2026 – trésorerie dédiée (cash plans HT convertis à 655,957 FCFA / 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RCI – TRÉSORERIE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financement : fonctionnement et projets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au 30/09/2026 – échéancier S1 à S4 (28/09 → 25/10/2026)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&amp; Financement – Groupe Duval Afrique  |  Octobre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trésorerie au 30/09/2026 – fonctionnement : échéancier S1 à S4 ; projets : cash plans septembre à novembre 2026 – montants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Besoin de financement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charges de structure et charges courantes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des besoins par entité (codes urgence)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urgences fournisseurs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disponible dédiée au fonctionnement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654296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542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financement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généraux, charges fiscales et sociales, salaires, remboursement de prêts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Besoin de projets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septembre à novembre 2026, trésorerie dédiée CPI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sur 3 mois par projet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postes par projet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et couverture mensuelle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4654296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6542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financements en cours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et Riviera Park (RIVIERA)</a:t>
            </a:r>
            <a:endParaRPr lang="en-US" sz="105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1. Situation par entité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structure et charges courantes, S1 à S4 (28/09 → 25/10/2026)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1 568,4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fonctionnement S1 à S4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1 227,9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régler dès S1 (échu + semaine en cours)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875,3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Impôts, cotisations et salaires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12161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échus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à échoir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Remboursement de prêts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S1 à 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dont à régler en 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1 227,9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91947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0" y="4919472"/>
            <a:ext cx="201168" cy="146304"/>
          </a:xfrm>
          <a:prstGeom prst="rect">
            <a:avLst/>
          </a:prstGeom>
          <a:solidFill>
            <a:srgbClr val="FBEBD0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Salaires, cotisations et impôts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03520" y="4919472"/>
            <a:ext cx="201168" cy="146304"/>
          </a:xfrm>
          <a:prstGeom prst="rect">
            <a:avLst/>
          </a:prstGeom>
          <a:solidFill>
            <a:srgbClr val="D6E2EE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de prêts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230368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concentrée sur FIRST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448,1 M de remboursements de prêts (29 % du besoin total), dont 129,6 M couverts par les loyers à encaisser.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Échu fournisseurs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 M sur FINAFRICA et 43,8 M sur PICI, soit 65 % des 141,2 M échus.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(254,9 M), PICI (218,5 M), FINAFRICA (136,1 M) portent l'essentiel (77 % de 789,5 M) ; les salaires (85,8 M) tombent en S4.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des prêts de TERASSON et RIVIERA (220,4 M) rattachés aux projets : voir slide 7. Hors droits d'enregistrement (1 715,3 M, essentiellement TERASSON et RIVIERA) et hors intragroupe.</a:t>
            </a:r>
            <a:endParaRPr lang="en-US" sz="9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2. Top 10 des urgences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par entité : fournisseurs échus, impôts et cotisations échus, salaires et remboursements de prêts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par entité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492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731520"/>
                <a:gridCol w="731520"/>
                <a:gridCol w="868680"/>
                <a:gridCol w="731520"/>
                <a:gridCol w="77724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fournisseurs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fourn.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 échues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 de prêts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urgences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1 412,5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78040" y="128016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échus urgents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553712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868680"/>
                <a:gridCol w="1828800"/>
                <a:gridCol w="777240"/>
                <a:gridCol w="804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61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Yapo Koyo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C2A Conseil Associés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SODECI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MONDON CONSEIL INTERNATIONAL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Forvis Mazars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J-L Ruelle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: 1 412,5 M.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(469,6 M, dont 448,1 M de prêts) et PICI (271,2 M) concentrent 52 % du total. Les loyers FIRST à encaisser (129,6 M) couvrent 29 % de ses 448,1 M de prêts.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échus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M, dont 8 des 10 premières lignes ont plus de 61 jours ; Me Yapo Koyo (19,8 M, 4 entités), LOXEA (18,4 M, 2 entités) et C2A Conseil Associés (13,6 M, 2 entités) se retrouvent sur plusieurs entités.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échoir, à surveiller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– Redevance Diaby 42,5 M (S2) et Visuel 17,7 M (S3). Deux lignes « Fournisseurs divers » (FINAFRICA 10,7 M ; PICI 7,7 M) sont à détailler avant décaissement.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échus = montants de S1 (arriérés et semaine en cours) ; salaires et remboursements de prêts = S1 à S4. Hors intragroupe et hors droits d'enregistrement.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3. Trésorerie disponible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au 30/09/2026 et loyers FIRST à encaisser, comparés aux besoins S1 à S4 – MFCFA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126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05840"/>
                <a:gridCol w="914400"/>
                <a:gridCol w="100584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S1-S4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Loyers à encaisser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S1-S4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-693,5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812280" y="123444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+100,0 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Excédents PICI, conservés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60604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7E7E5"/>
          </a:solidFill>
          <a:ln w="12700">
            <a:solidFill>
              <a:srgbClr val="F7E7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71576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-793,5 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71576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cumulés, 8 entités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6460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-693,5 M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nette, sans compensation entre entités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43434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 FIRST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129,6 M à encaisser en octobre (DC/BR 40,1 ; JESA 37,7 ; LOG IVOIRE 20,0 ; ITOCHU 18,9 ; SBS 6,9 ; M&amp;H 6,0), affectés au service de la dette. Les loyers de septembre et ceux déjà réglés (SIEMENS) sont déjà en trésorerie.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compté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638,3 M d'impayés antérieurs (État 524,0 ; LOG IVOIRE 73,2 ; GMK 37,3, bail résilié) et le loyer annuel de l'État (349,7 M) attendu en novembre.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BNI-RIVIERA(Courant) (RIVIERA, 1 772,0 M), destination « placement ou fonctionnement » non tranchée dans la position : non comptés. Ils couvriraient le déficit RIVIERA (87,3 M).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1 195,6 M de fonds dédiés DSR, augmentation, LL et disbursement, ni comptés ni affectés au BFR.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4. Recommandation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spot en solution principale, appel de fonds en appui – MFCFA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 en déficit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urgences 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S2 à 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5760720" cy="2057400"/>
          </a:xfrm>
          <a:prstGeom prst="roundRect">
            <a:avLst>
              <a:gd name="adj" fmla="val 2667"/>
            </a:avLst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2976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attendues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 un spot par entité en déficit, tiré par tranche : T1 pour les urgences S1, T2 à l'échéance.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Constituer en priorité les dossiers de TERASSON, FINAFRICA, FIRST (73 % du besoin spot).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Affecter les loyers FIRST encaissés (129,6 M) au service de la dette et relancer l'État (524,0 M d'impayés ; loyer annuel de 349,7 M attendu en novembre).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 l'affectation du compte BNI-RIVIERA(Courant) (1 772,0 M, placement ou fonctionnement) : affecté au fonctionnement, il couvre le déficit RIVIERA (87,3 M) sans spot.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l'appel de fonds comme solution de repli si le spot n'est pas obtenu pour S1.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325880"/>
            <a:ext cx="5285232" cy="2148840"/>
          </a:xfrm>
          <a:prstGeom prst="roundRect">
            <a:avLst>
              <a:gd name="adj" fmla="val 2553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Crédit spot bancaire · recommandé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13990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793,5 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principale : un dossier par entité en déficit. T1 urgences S1 : 629,3 M ; T2 S2 à S4 : 164,3 M, tiré à l'échéance. Besoin de FIRST net des loyers à encaisser. Remboursement à la mise en place des financements identifiés ; aucun apport en compte courant ni avance intragroupe.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3657600"/>
            <a:ext cx="5285232" cy="2148840"/>
          </a:xfrm>
          <a:prstGeom prst="roundRect">
            <a:avLst>
              <a:gd name="adj" fmla="val 255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3749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– Appel de fonds · appui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37307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4114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si le spot tarde pour S1, ou pour la part structurelle liée aux prêts : FIRST 448,1 M (dont 129,6 M couverts par les loyers). Montant et calendrier à valider avec les actionnaires.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1. Besoin sur 3 mois par projet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de la Direction de programme (bilans financiers du 02/10/2026), septembre à novembre 2026 – € HT convertis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7 625,9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projets septembre à novembre 2026 (11 626 K€ HT)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3 926,3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: 5 986 K€ 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3 699,6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(RIVIERA) : 5 640 K€ 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966,7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frais financiers (+ 823,6 M de due diligence en autres dépenses)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04672"/>
                <a:gridCol w="804672"/>
                <a:gridCol w="804672"/>
                <a:gridCol w="914400"/>
                <a:gridCol w="804672"/>
                <a:gridCol w="804672"/>
                <a:gridCol w="804672"/>
                <a:gridCol w="914400"/>
                <a:gridCol w="10515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 (TERASSON)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 (RIVIERA)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(MFCFA)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 + ant.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 + ant.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v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1 911,3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1 641,7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2 892,8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4 804,1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dépenses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 de vente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2 197,8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3 926,3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1 976,6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3 699,6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7 625,9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K€ 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3 350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5 986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5 640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11 626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864608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3 926,3 M, dont 1 911,3 M de travaux (49 %) ; premier poste : Gros œuvre &amp; installation de chantier 1 165,2 M ; pic en septembre (2 197,8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3 699,6 M, dont 2 892,8 M de travaux (78 %) ; premier poste : Gros oeuvre 1 455,9 M ; pic en septembre (1 976,6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inclus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966,7 M (TERASSON 442,6 M ; RIVIERA 524,1 M) : coupons, frais intercalaires et commissions d'engagement, isolés ci-dessus. S'y ajoutent, classés en autres dépenses, Autres frais financiers (Frais de Due Diligence) 823,6 M (TERASSON). Les frais de prêts du recap (IFC 32,9 M ; BNI 187,5 M) en relèvent et ne sont pas ajoutés.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HT (TVA en sus), mois septembre à novembre 2026 ; antériorités non réglées (207,5 M, TERASSON 116,2, RIVIERA 91,3) reportées sur septembre des cash plans recalés, logique des montants communiqués par la Direction de programme. Pour mémoire, l'audit S1 à S4 retient 4 842,9 M TTC sur les projets.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2. Top 10 des postes par projet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du cash plan les plus lourdes sur septembre à novembre 2026 (montants HT)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Village Notre Père · 3 926,3 M sur 3 mois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5321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920240"/>
                <a:gridCol w="685800"/>
                <a:gridCol w="640080"/>
                <a:gridCol w="640080"/>
                <a:gridCol w="640080"/>
                <a:gridCol w="7315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 + ant.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œuvre &amp; installation de chan…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1 165,2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frais financiers (Frais de…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FF&amp;E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 /SSI /GTB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de concours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intercalaires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 Coupons Invest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Serrurerie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Intérêts sur compte courant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1 917,2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1 023,5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3 320,5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2 197,8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3 926,3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99632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Riviera Park · 3 699,6 M sur 3 mois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645920"/>
          <a:ext cx="55321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920240"/>
                <a:gridCol w="685800"/>
                <a:gridCol w="640080"/>
                <a:gridCol w="640080"/>
                <a:gridCol w="640080"/>
                <a:gridCol w="7315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 + ant.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oeuvre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1 455,9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intercalaires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Charpente metallique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 - Espaces verts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UNISERV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- Courants forts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 &amp; Bardage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Intérêts sur compte courant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Plomberie RIA -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Fondations spéciales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 Coupons Invest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1 670,6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1 053,3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3 255,3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-76,3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1 976,6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3 699,6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10 représente 85 % du besoin (3 320,5 M) ; Gros œuvre &amp; installation de chantier 1 165,2 M, Autres frais financiers (Frais de Due Diligence) (DWF) 823,6 M et FF&amp;E RT 235,3 M.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10 représente 88 % du besoin (3 255,3 M) ; Gros oeuvre 1 455,9 M, Frais intercalaires 331,3 M et Charpente metallique 325,9 M.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3. Trésorerie disponible et couverture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CPI au 30/09/2026 comparés au besoin cumulé des cash plans, septembre à novembre 2026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4 125,0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projets (CPI)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7 625,9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cumulé septembre à novembre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-3 500,8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fin novembre (sans compensation)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mois où la trésorerie dédiée est épuisée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7040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990600"/>
                <a:gridCol w="990600"/>
                <a:gridCol w="990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sept. + ant.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fin nov.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BNI-TERASSON / Fonds proj…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2 197,8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2 687,8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3 926,3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-2 444,4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BNI-PICI / Fonds projet 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1 976,6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3 244,5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3 699,6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-1 056,4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4 125,0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4 174,3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5 932,3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7 625,9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-3 500,8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09651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69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cumulé &gt; trésorerie dédiée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79976"/>
          <a:ext cx="7040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fonds des entités projets (non comptés)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(position)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BNI-RIVIERA(Courant)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Affection placement? Ou besoin de fonctionn… (à arbitrer)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1 772,0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BNI-RIVIERA(DSRA) / Placement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DSR/Augmentation/LL/Disbursment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0" descr=""/>
          <p:cNvGraphicFramePr/>
          <p:nvPr/>
        </p:nvGraphicFramePr>
        <p:xfrm>
          <a:off x="7726680" y="219456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1 481,9 M épuisée en septembre (besoin du mois 2 197,8 M) ; 2 444,4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2 643,1 M épuisée en octobre (besoin cumulé 3 244,5 M) ; 1 056,4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BNI-RIVIERA(Courant) (1 772,0 M, « placement ou fonctionnement ») couvrirait le besoin RIVIERA (1 056,4 M) s'il était affecté au projet.</a:t>
            </a:r>
            <a:endParaRPr lang="en-US" sz="10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4. Suivi des financements en cours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à alimenter par projet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2 444,4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à financer (besoin septembre à novembre 2026 – trésorerie dédiée)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9632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6792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1 056,4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à financer (besoin septembre à novembre 2026 – trésorerie dédiée)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234440"/>
                <a:gridCol w="1097280"/>
                <a:gridCol w="914400"/>
                <a:gridCol w="1005840"/>
                <a:gridCol w="1097280"/>
                <a:gridCol w="22219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/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accordé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tiré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à tirer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Prochain tirage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/ 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à renseigner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accordé, tirages effectués, reste à tirer, date et conditions du prochain tirage, par projet. Le besoin à financer de TERASSON (2 444,4 M sur septembre à novembre 2026) sert de cible de couverture ; le suivi se met à jour à chaque tirage.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Sociétés RCI – Besoins de financement : fonctionnement et projets</dc:title>
  <dc:subject>PptxGenJS Presentation</dc:subject>
  <dc:creator>Trésorerie &amp; Financement – Groupe Duval Afrique</dc:creator>
  <cp:lastModifiedBy>Trésorerie &amp; Financement – Groupe Duval Afrique</cp:lastModifiedBy>
  <cp:revision>1</cp:revision>
  <dcterms:created xsi:type="dcterms:W3CDTF">2026-10-08T08:18:19Z</dcterms:created>
  <dcterms:modified xsi:type="dcterms:W3CDTF">2026-10-08T08:18:19Z</dcterms:modified>
</cp:coreProperties>
</file>