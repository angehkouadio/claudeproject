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2.xml" ContentType="application/vnd.openxmlformats-officedocument.drawingml.chart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6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0930B9D-4ED8-43E0-A965-6B9A1AE8FEB4}" v="1" dt="2026-10-02T15:56:30.58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72" y="57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notesMaster" Target="notesMasters/notesMaster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CA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2C50"/>
                </a:solidFill>
                <a:latin typeface="Calibri"/>
              </a:defRPr>
            </a:pPr>
            <a:r>
              <a:rPr lang="fr-FR" sz="1100" b="0" i="0" u="none" strike="noStrike">
                <a:solidFill>
                  <a:srgbClr val="002C50"/>
                </a:solidFill>
                <a:latin typeface="Calibri"/>
              </a:rPr>
              <a:t>Position nette par entité après loyers, Semaines 1 à 4 (MFCFA)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Position S1 à S4</c:v>
                </c:pt>
              </c:strCache>
            </c:strRef>
          </c:tx>
          <c:spPr>
            <a:solidFill>
              <a:srgbClr val="5E9B7E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646B-4478-AE89-ABE93E009289}"/>
              </c:ext>
            </c:extLst>
          </c:dPt>
          <c:dPt>
            <c:idx val="1"/>
            <c:invertIfNegative val="0"/>
            <c:bubble3D val="0"/>
            <c:spPr>
              <a:solidFill>
                <a:srgbClr val="B3261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46B-4478-AE89-ABE93E009289}"/>
              </c:ext>
            </c:extLst>
          </c:dPt>
          <c:dPt>
            <c:idx val="2"/>
            <c:invertIfNegative val="0"/>
            <c:bubble3D val="0"/>
            <c:spPr>
              <a:solidFill>
                <a:srgbClr val="B3261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646B-4478-AE89-ABE93E009289}"/>
              </c:ext>
            </c:extLst>
          </c:dPt>
          <c:dPt>
            <c:idx val="3"/>
            <c:invertIfNegative val="0"/>
            <c:bubble3D val="0"/>
            <c:spPr>
              <a:solidFill>
                <a:srgbClr val="B3261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646B-4478-AE89-ABE93E009289}"/>
              </c:ext>
            </c:extLst>
          </c:dPt>
          <c:dPt>
            <c:idx val="4"/>
            <c:invertIfNegative val="0"/>
            <c:bubble3D val="0"/>
            <c:spPr>
              <a:solidFill>
                <a:srgbClr val="B3261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646B-4478-AE89-ABE93E009289}"/>
              </c:ext>
            </c:extLst>
          </c:dPt>
          <c:dPt>
            <c:idx val="5"/>
            <c:invertIfNegative val="0"/>
            <c:bubble3D val="0"/>
            <c:spPr>
              <a:solidFill>
                <a:srgbClr val="B3261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646B-4478-AE89-ABE93E009289}"/>
              </c:ext>
            </c:extLst>
          </c:dPt>
          <c:dPt>
            <c:idx val="6"/>
            <c:invertIfNegative val="0"/>
            <c:bubble3D val="0"/>
            <c:spPr>
              <a:solidFill>
                <a:srgbClr val="B3261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646B-4478-AE89-ABE93E009289}"/>
              </c:ext>
            </c:extLst>
          </c:dPt>
          <c:dPt>
            <c:idx val="7"/>
            <c:invertIfNegative val="0"/>
            <c:bubble3D val="0"/>
            <c:spPr>
              <a:solidFill>
                <a:srgbClr val="B3261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646B-4478-AE89-ABE93E009289}"/>
              </c:ext>
            </c:extLst>
          </c:dPt>
          <c:dPt>
            <c:idx val="8"/>
            <c:invertIfNegative val="0"/>
            <c:bubble3D val="0"/>
            <c:spPr>
              <a:solidFill>
                <a:srgbClr val="B3261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646B-4478-AE89-ABE93E009289}"/>
              </c:ext>
            </c:extLst>
          </c:dPt>
          <c:dLbls>
            <c:numFmt formatCode="#,##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F2933"/>
                    </a:solidFill>
                    <a:latin typeface="Calibri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PICI</c:v>
                </c:pt>
                <c:pt idx="1">
                  <c:v>ODALYS CI</c:v>
                </c:pt>
                <c:pt idx="2">
                  <c:v>AB CENTER</c:v>
                </c:pt>
                <c:pt idx="3">
                  <c:v>RHD CI</c:v>
                </c:pt>
                <c:pt idx="4">
                  <c:v>IMMONEUF</c:v>
                </c:pt>
                <c:pt idx="5">
                  <c:v>RIVIERA</c:v>
                </c:pt>
                <c:pt idx="6">
                  <c:v>FIRST</c:v>
                </c:pt>
                <c:pt idx="7">
                  <c:v>FINAFRICA</c:v>
                </c:pt>
                <c:pt idx="8">
                  <c:v>TERASSON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100</c:v>
                </c:pt>
                <c:pt idx="1">
                  <c:v>-3.5</c:v>
                </c:pt>
                <c:pt idx="2">
                  <c:v>-6.3</c:v>
                </c:pt>
                <c:pt idx="3">
                  <c:v>-50</c:v>
                </c:pt>
                <c:pt idx="4">
                  <c:v>-66</c:v>
                </c:pt>
                <c:pt idx="5">
                  <c:v>-87.3</c:v>
                </c:pt>
                <c:pt idx="6">
                  <c:v>-175.3</c:v>
                </c:pt>
                <c:pt idx="7">
                  <c:v>-198.7</c:v>
                </c:pt>
                <c:pt idx="8">
                  <c:v>-206.4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2-646B-4478-AE89-ABE93E00928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F293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60"/>
          <c:min val="-270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CA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2C50"/>
                </a:solidFill>
                <a:latin typeface="Calibri"/>
              </a:defRPr>
            </a:pPr>
            <a:r>
              <a:rPr lang="fr-FR" sz="1100" b="0" i="0" u="none" strike="noStrike">
                <a:solidFill>
                  <a:srgbClr val="002C50"/>
                </a:solidFill>
                <a:latin typeface="Calibri"/>
              </a:rPr>
              <a:t>Trésorerie dédiée et besoin cumulé (MFCFA)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Trésorerie dédiée</c:v>
                </c:pt>
              </c:strCache>
            </c:strRef>
          </c:tx>
          <c:spPr>
            <a:solidFill>
              <a:srgbClr val="002C5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F2933"/>
                    </a:solidFill>
                    <a:latin typeface="Calibri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TERASSON</c:v>
                </c:pt>
                <c:pt idx="1">
                  <c:v>RIVIERA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1482</c:v>
                </c:pt>
                <c:pt idx="1">
                  <c:v>2643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2B4-4465-8B11-1A52AB564D7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Besoin cumulé fin sept.</c:v>
                </c:pt>
              </c:strCache>
            </c:strRef>
          </c:tx>
          <c:spPr>
            <a:solidFill>
              <a:srgbClr val="E8B4AE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F2933"/>
                    </a:solidFill>
                    <a:latin typeface="Calibri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TERASSON</c:v>
                </c:pt>
                <c:pt idx="1">
                  <c:v>RIVIERA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2082</c:v>
                </c:pt>
                <c:pt idx="1">
                  <c:v>1885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2B4-4465-8B11-1A52AB564D7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Besoin cumulé fin oct.</c:v>
                </c:pt>
              </c:strCache>
            </c:strRef>
          </c:tx>
          <c:spPr>
            <a:solidFill>
              <a:srgbClr val="D0736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F2933"/>
                    </a:solidFill>
                    <a:latin typeface="Calibri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TERASSON</c:v>
                </c:pt>
                <c:pt idx="1">
                  <c:v>RIVIERA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2572</c:v>
                </c:pt>
                <c:pt idx="1">
                  <c:v>3153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2B4-4465-8B11-1A52AB564D79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Besoin cumulé fin nov.</c:v>
                </c:pt>
              </c:strCache>
            </c:strRef>
          </c:tx>
          <c:spPr>
            <a:solidFill>
              <a:srgbClr val="B3261E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F2933"/>
                    </a:solidFill>
                    <a:latin typeface="Calibri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TERASSON</c:v>
                </c:pt>
                <c:pt idx="1">
                  <c:v>RIVIERA</c:v>
                </c:pt>
              </c:strCache>
            </c: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3810</c:v>
                </c:pt>
                <c:pt idx="1">
                  <c:v>3608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42B4-4465-8B11-1A52AB564D7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F293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50">
              <a:solidFill>
                <a:srgbClr val="1F2933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593141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Couverture. Position de trésorerie au 30/09/2026 ; échéancier de l'audit des décaissements du 30/09/2026 (v10). Présentation générée automatiquement à partir des fichiers Excel sources.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Besoins = RECAP semaine hors intragroupe (Semaines 1 à 4). Fournisseurs échus = balance âgée (total – non échu), qui correspond à l'échéancier de la Semaine 1. Impôts et cotisations = somme des lignes de détail du recap. Remboursement de prêts = intérêts + capital emprunté, hors prêts rattachés aux projets (voir projets).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Fournisseurs échus = balance âgée (total – non échu), hors intragroupe ; Top 10 par entité = 10 plus gros échus de l'entité (« Autres » = reste). Impôts et cotisations = Semaine 1 de l'audit, qui reporte les arriérés dans la semaine d'analyse. Salaires et remboursements de prêts pris sur Semaines 1 à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Trésorerie dédiée = comptes classés « Dédié besoin de fonctionnement » dans la position CI au 30/09/2026 ; fonds à destination non tranchée non comptés (BNI-RIVIERA(Courant) 1 772,0 M). Position = trésorerie + loyers – besoin, sans compensation entre entités. Loyers FIRST = colonne octobre 2026 de l'état prévisionnel des encaissements, hors loyers déjà encaissés (SIEMENS 6,1 M) ; les loyers antérieurs sont supposés déjà encaissés dans les soldes. Dates d'encaissement non précisées dans l'état : à confirmer pour le phasage.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 de calcul : feuille « Marchés et Dépenses HT » de chaque bilan financier (b7d831c0-2026-10-02_Village_notre_p_re_Bilan_financier.xlsm ; 3f5ff12c-2026-10-02_RIVIERA_Bilan_financier.xlsm), ligne TOTAL et sections, colonnes septembre à novembre 2026. Montants en € HT convertis à 655,957 FCFA / €. Ce sont les montants communiqués par la Direction de programme (Village Notre Père 5 808 K€ HT, Riviera Park 5 501 K€ HT). Frais financiers = section FFI (intérêts sur compte courant, produits financiers, frais intercalaires, commissions d'engagement, coupons). Les remboursements de prêts TERASSON / RIVIERA du recap ne sont pas ajoutés (déjà couverts par cette section) et restent hors fonctionnement.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92061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Lignes de la feuille « Marchés et Dépenses HT » des bilans financiers, classées par montant HT cumulé sur septembre à novembre 2026. Les lignes négatives (exonérations douanières, produits financiers) sont comprises dans « Autres lignes ». Montants convertis à 655,957 FCFA / €.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Trésorerie dédiée = comptes « Dédié paiement CPI » de la position CI au 30/09/2026. Besoin cumulé = total mensuel HT des cash plans (« Marchés et Dépenses HT »), converti à 655,957 FCFA / €, cumulé depuis septembre ; la TVA, réglée en TTC, n'est pas comprise. Aucune compensation entre projets. Les autres fonds (DSRA, comptes courants à destination non tranchée) ne sont pas comptés.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Tableau de suivi à alimenter par projet. Besoin à financer = besoin septembre à novembre 2026 – trésorerie dédiée (cash plans HT convertis à 655,957 FCFA / €).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chart" Target="../charts/chart1.xml"/></Relationships>
</file>

<file path=ppt/slides/_rels/slide7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9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chart" Target="../charts/chart2.xml"/></Relationships>
</file>

<file path=ppt/slides/_rels/slide10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2C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0"/>
            <a:ext cx="4873752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31520" y="137160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D4B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SOCIÉTÉS RCI – TRÉSORERIE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731520" y="1828800"/>
            <a:ext cx="6309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Besoins de financement : fonctionnement et projets</a:t>
            </a:r>
            <a:endParaRPr lang="en-US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3840480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4B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 au 30/09/2026 – échéancier Semaine 1 à Semaine 4 (28/09 → 25/10/2026)</a:t>
            </a:r>
            <a:br>
              <a:rPr lang="en-US" sz="1500" dirty="0">
                <a:solidFill>
                  <a:srgbClr val="D4B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500" i="1" baseline="30000" dirty="0">
                <a:solidFill>
                  <a:srgbClr val="D4B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Hors SCO &amp; INFI</a:t>
            </a:r>
            <a:endParaRPr lang="en-US" sz="1500" i="1" baseline="300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594360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Trésorerie &amp; Financement – Groupe Duval Afrique  |  Octobre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2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Sommaire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D8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de trésorerie au 30/09/2026 – fonctionnement : échéancier Semaine 1 à Semaine 4 ; projets : cash plans septembre à novembre 2026 – montants en MFCFA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5468112" cy="4480560"/>
          </a:xfrm>
          <a:prstGeom prst="roundRect">
            <a:avLst>
              <a:gd name="adj" fmla="val 1224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 txBox="1"/>
          <p:nvPr/>
        </p:nvSpPr>
        <p:spPr>
          <a:xfrm>
            <a:off x="777240" y="16916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2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Besoin de financement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17627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D8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Fonctionnement : charges de structure et charges courantes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77240" y="2788920"/>
            <a:ext cx="420624" cy="420624"/>
          </a:xfrm>
          <a:prstGeom prst="ellipse">
            <a:avLst/>
          </a:prstGeom>
          <a:solidFill>
            <a:srgbClr val="002C50"/>
          </a:solidFill>
          <a:ln w="6350">
            <a:solidFill>
              <a:srgbClr val="002C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 txBox="1"/>
          <p:nvPr/>
        </p:nvSpPr>
        <p:spPr>
          <a:xfrm>
            <a:off x="777240" y="2788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788920"/>
            <a:ext cx="4297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 des besoins par entité (codes urgence)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77240" y="3410712"/>
            <a:ext cx="420624" cy="420624"/>
          </a:xfrm>
          <a:prstGeom prst="ellipse">
            <a:avLst/>
          </a:prstGeom>
          <a:solidFill>
            <a:srgbClr val="002C50"/>
          </a:solidFill>
          <a:ln w="6350">
            <a:solidFill>
              <a:srgbClr val="002C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 txBox="1"/>
          <p:nvPr/>
        </p:nvSpPr>
        <p:spPr>
          <a:xfrm>
            <a:off x="777240" y="34107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3410712"/>
            <a:ext cx="4297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Zoom Top 10 des urgences fournisseurs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77240" y="4032504"/>
            <a:ext cx="420624" cy="420624"/>
          </a:xfrm>
          <a:prstGeom prst="ellipse">
            <a:avLst/>
          </a:prstGeom>
          <a:solidFill>
            <a:srgbClr val="002C50"/>
          </a:solidFill>
          <a:ln w="6350">
            <a:solidFill>
              <a:srgbClr val="002C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 txBox="1"/>
          <p:nvPr/>
        </p:nvSpPr>
        <p:spPr>
          <a:xfrm>
            <a:off x="777240" y="40325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4032504"/>
            <a:ext cx="4297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Trésorerie disponible dédiée au fonctionnement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777240" y="53492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Fournisseurs généraux, charges fiscales et sociales, salaires, remboursement de prêts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263640" y="1463040"/>
            <a:ext cx="5468112" cy="4480560"/>
          </a:xfrm>
          <a:prstGeom prst="roundRect">
            <a:avLst>
              <a:gd name="adj" fmla="val 1224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 txBox="1"/>
          <p:nvPr/>
        </p:nvSpPr>
        <p:spPr>
          <a:xfrm>
            <a:off x="6583680" y="16916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2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Point projets en cours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6583680" y="217627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D8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Besoins de trésorerie : cash plans septembre à novembre 2026, trésorerie dédiée CPI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583680" y="2788920"/>
            <a:ext cx="420624" cy="420624"/>
          </a:xfrm>
          <a:prstGeom prst="ellipse">
            <a:avLst/>
          </a:prstGeom>
          <a:solidFill>
            <a:srgbClr val="002C50"/>
          </a:solidFill>
          <a:ln w="6350">
            <a:solidFill>
              <a:srgbClr val="002C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 txBox="1"/>
          <p:nvPr/>
        </p:nvSpPr>
        <p:spPr>
          <a:xfrm>
            <a:off x="6583680" y="2788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7178040" y="2788920"/>
            <a:ext cx="4297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Besoin sur 3 mois par projet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583680" y="3410712"/>
            <a:ext cx="420624" cy="420624"/>
          </a:xfrm>
          <a:prstGeom prst="ellipse">
            <a:avLst/>
          </a:prstGeom>
          <a:solidFill>
            <a:srgbClr val="002C50"/>
          </a:solidFill>
          <a:ln w="6350">
            <a:solidFill>
              <a:srgbClr val="002C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 txBox="1"/>
          <p:nvPr/>
        </p:nvSpPr>
        <p:spPr>
          <a:xfrm>
            <a:off x="6583680" y="34107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7178040" y="3410712"/>
            <a:ext cx="4297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Zoom Top 10 des postes par projet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6583680" y="4032504"/>
            <a:ext cx="420624" cy="420624"/>
          </a:xfrm>
          <a:prstGeom prst="ellipse">
            <a:avLst/>
          </a:prstGeom>
          <a:solidFill>
            <a:srgbClr val="002C50"/>
          </a:solidFill>
          <a:ln w="6350">
            <a:solidFill>
              <a:srgbClr val="002C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 txBox="1"/>
          <p:nvPr/>
        </p:nvSpPr>
        <p:spPr>
          <a:xfrm>
            <a:off x="6583680" y="40325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7178040" y="4032504"/>
            <a:ext cx="4297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Trésorerie dédiée et couverture mensuelle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6583680" y="4654296"/>
            <a:ext cx="420624" cy="420624"/>
          </a:xfrm>
          <a:prstGeom prst="ellipse">
            <a:avLst/>
          </a:prstGeom>
          <a:solidFill>
            <a:srgbClr val="002C50"/>
          </a:solidFill>
          <a:ln w="6350">
            <a:solidFill>
              <a:srgbClr val="002C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 txBox="1"/>
          <p:nvPr/>
        </p:nvSpPr>
        <p:spPr>
          <a:xfrm>
            <a:off x="6583680" y="46542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7178040" y="4654296"/>
            <a:ext cx="4297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des financements en cours</a:t>
            </a:r>
            <a:endParaRPr lang="en-US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6583680" y="53492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Village Notre Père (TERASSON) et Riviera Park (RIVIERA)</a:t>
            </a:r>
            <a:endParaRPr lang="en-US" sz="1050" dirty="0"/>
          </a:p>
        </p:txBody>
      </p:sp>
      <p:pic>
        <p:nvPicPr>
          <p:cNvPr id="3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8520" y="6382512"/>
            <a:ext cx="530352" cy="329184"/>
          </a:xfrm>
          <a:prstGeom prst="rect">
            <a:avLst/>
          </a:prstGeom>
        </p:spPr>
      </p:pic>
      <p:sp>
        <p:nvSpPr>
          <p:cNvPr id="37" name="Text 34"/>
          <p:cNvSpPr txBox="1"/>
          <p:nvPr/>
        </p:nvSpPr>
        <p:spPr>
          <a:xfrm>
            <a:off x="11612880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2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Besoin de fonctionnement – 1. Situation par entité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D8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Charges de structure et courantes, Semaines 1 à 4 du 28/09 au 25/10/2026 (Semaine 1 : 28/09 → 04/10, échu inclus) – MFCFA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2679192" cy="896112"/>
          </a:xfrm>
          <a:prstGeom prst="roundRect">
            <a:avLst>
              <a:gd name="adj" fmla="val 8163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 txBox="1"/>
          <p:nvPr/>
        </p:nvSpPr>
        <p:spPr>
          <a:xfrm>
            <a:off x="594360" y="1307592"/>
            <a:ext cx="2404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2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1 568,4 M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746504"/>
            <a:ext cx="2404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Besoins de fonctionnement Semaines 1 à 4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319272" y="1234440"/>
            <a:ext cx="2679192" cy="896112"/>
          </a:xfrm>
          <a:prstGeom prst="roundRect">
            <a:avLst>
              <a:gd name="adj" fmla="val 8163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 txBox="1"/>
          <p:nvPr/>
        </p:nvSpPr>
        <p:spPr>
          <a:xfrm>
            <a:off x="3456432" y="1307592"/>
            <a:ext cx="2404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1 227,9 M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3456432" y="1746504"/>
            <a:ext cx="2404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régler dès la Semaine 1 (échu + semaine du 28/09)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181344" y="1234440"/>
            <a:ext cx="2679192" cy="896112"/>
          </a:xfrm>
          <a:prstGeom prst="roundRect">
            <a:avLst>
              <a:gd name="adj" fmla="val 8163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 txBox="1"/>
          <p:nvPr/>
        </p:nvSpPr>
        <p:spPr>
          <a:xfrm>
            <a:off x="6318504" y="1307592"/>
            <a:ext cx="2404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141,2 M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6318504" y="1746504"/>
            <a:ext cx="2404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Fournisseurs déjà échus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9043416" y="1234440"/>
            <a:ext cx="2679192" cy="896112"/>
          </a:xfrm>
          <a:prstGeom prst="roundRect">
            <a:avLst>
              <a:gd name="adj" fmla="val 8163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 txBox="1"/>
          <p:nvPr/>
        </p:nvSpPr>
        <p:spPr>
          <a:xfrm>
            <a:off x="9180576" y="1307592"/>
            <a:ext cx="2404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875,3 M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9180576" y="1746504"/>
            <a:ext cx="2404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Impôts, cotisations et salaires</a:t>
            </a:r>
            <a:endParaRPr lang="en-US" sz="10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286000"/>
          <a:ext cx="11274552" cy="246888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216152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Nature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PICI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TERASSON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RIVIERA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RHD CI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IMMONEUF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FINAFRICA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ODALYS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 CENTER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Fournisseurs échus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43,8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7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19,9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7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7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12,2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7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7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48,2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7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7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7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141,2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Fournisseurs à échoir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13,0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71,3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11,0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103,8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Impôts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167,4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254,9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70,8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38,9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17,1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75,0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637,4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Cotisations sociales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51,1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11,1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28,4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61,1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152,1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Salaires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21,3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26,0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38,5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85,8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Remboursement de prêts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448,1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448,1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Semaines 1 à 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296,6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541,0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264,6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88,8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50,0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77,8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233,8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1 568,4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dont à régler en Semaine 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249,9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365,4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264,6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88,5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45,1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34,3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164,2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1 227,9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7" name="Shape 14"/>
          <p:cNvSpPr/>
          <p:nvPr/>
        </p:nvSpPr>
        <p:spPr>
          <a:xfrm>
            <a:off x="457200" y="4919472"/>
            <a:ext cx="201168" cy="146304"/>
          </a:xfrm>
          <a:prstGeom prst="rect">
            <a:avLst/>
          </a:prstGeom>
          <a:solidFill>
            <a:srgbClr val="F7E7E5"/>
          </a:solidFill>
          <a:ln w="6350">
            <a:solidFill>
              <a:srgbClr val="D5DBE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5"/>
          <p:cNvSpPr txBox="1"/>
          <p:nvPr/>
        </p:nvSpPr>
        <p:spPr>
          <a:xfrm>
            <a:off x="731520" y="489204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Fournisseurs déjà échus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2743200" y="4919472"/>
            <a:ext cx="201168" cy="146304"/>
          </a:xfrm>
          <a:prstGeom prst="rect">
            <a:avLst/>
          </a:prstGeom>
          <a:solidFill>
            <a:srgbClr val="FBEBD0"/>
          </a:solidFill>
          <a:ln w="6350">
            <a:solidFill>
              <a:srgbClr val="D5DBE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7"/>
          <p:cNvSpPr txBox="1"/>
          <p:nvPr/>
        </p:nvSpPr>
        <p:spPr>
          <a:xfrm>
            <a:off x="3017520" y="489204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Salaires, cotisations et impôts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5303520" y="4919472"/>
            <a:ext cx="201168" cy="146304"/>
          </a:xfrm>
          <a:prstGeom prst="rect">
            <a:avLst/>
          </a:prstGeom>
          <a:solidFill>
            <a:srgbClr val="D6E2EE"/>
          </a:solidFill>
          <a:ln w="6350">
            <a:solidFill>
              <a:srgbClr val="D5DBE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19"/>
          <p:cNvSpPr txBox="1"/>
          <p:nvPr/>
        </p:nvSpPr>
        <p:spPr>
          <a:xfrm>
            <a:off x="5577840" y="489204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2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Remboursement de prêts</a:t>
            </a:r>
            <a:endParaRPr lang="en-US" sz="950" dirty="0"/>
          </a:p>
        </p:txBody>
      </p:sp>
      <p:sp>
        <p:nvSpPr>
          <p:cNvPr id="23" name="Text 20"/>
          <p:cNvSpPr txBox="1"/>
          <p:nvPr/>
        </p:nvSpPr>
        <p:spPr>
          <a:xfrm>
            <a:off x="457200" y="5230368"/>
            <a:ext cx="11247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b="1" dirty="0">
                <a:solidFill>
                  <a:srgbClr val="002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Dette concentrée sur FIRST : </a:t>
            </a: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448,1 M de remboursements de prêts (29 % du besoin total), dont 129,6 M couverts par les loyers à encaisser.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b="1" dirty="0">
                <a:solidFill>
                  <a:srgbClr val="002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Échu fournisseurs : </a:t>
            </a: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48,2 M sur FINAFRICA et 43,8 M sur PICI, soit 65 % des 141,2 M échus.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b="1" dirty="0">
                <a:solidFill>
                  <a:srgbClr val="002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Impôts et cotisations : </a:t>
            </a: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TERASSON (254,9 M), PICI (218,5 M), FINAFRICA (136,1 M) portent 77 % des 789,5 M ; salaires (85,8 M) en Semaine 4.</a:t>
            </a:r>
            <a:endParaRPr lang="en-US" sz="1150" dirty="0"/>
          </a:p>
        </p:txBody>
      </p:sp>
      <p:sp>
        <p:nvSpPr>
          <p:cNvPr id="24" name="Text 21"/>
          <p:cNvSpPr txBox="1"/>
          <p:nvPr/>
        </p:nvSpPr>
        <p:spPr>
          <a:xfrm>
            <a:off x="457200" y="6144768"/>
            <a:ext cx="11247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Frais financiers des prêts de TERASSON et RIVIERA (220,4 M) rattachés aux projets : voir slide 6. Hors droits d'enregistrement (1 715,3 M, essentiellement TERASSON et RIVIERA) et hors intragroupe.</a:t>
            </a:r>
            <a:endParaRPr lang="en-US" sz="950" dirty="0"/>
          </a:p>
        </p:txBody>
      </p:sp>
      <p:pic>
        <p:nvPicPr>
          <p:cNvPr id="25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18520" y="6382512"/>
            <a:ext cx="530352" cy="329184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11612880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2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Besoin de fonctionnement – 2. Top 10 des urgences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D8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Urgences par entité : fournisseurs échus, impôts et cotisations échus, salaires et remboursements de prêts – MFCFA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80160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2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des urgences par entité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7682568"/>
              </p:ext>
            </p:extLst>
          </p:nvPr>
        </p:nvGraphicFramePr>
        <p:xfrm>
          <a:off x="457200" y="1600200"/>
          <a:ext cx="6492240" cy="3218688"/>
        </p:xfrm>
        <a:graphic>
          <a:graphicData uri="http://schemas.openxmlformats.org/drawingml/2006/table">
            <a:tbl>
              <a:tblPr/>
              <a:tblGrid>
                <a:gridCol w="960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Entité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 err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Fournisseurs</a:t>
                      </a: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850" b="1" dirty="0" err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échus</a:t>
                      </a: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850" b="1" dirty="0" err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urgents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Autres fourn. échus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Impôts échus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Cotisations sociales échues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Salaires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Rembours. de prêts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urgences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PICI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41,2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7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161,1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45,1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21,3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271,2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19,9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7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448,1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469,6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TERASSON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7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254,9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264,6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RIVIERA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12,2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7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70,7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83,1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RHD CI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35,9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45,1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IMMONEUF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7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21,9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26,0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60,3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FINAFRICA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48,2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7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63,0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53,0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38,5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202,7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ODALYS CI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7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 CENTER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7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138,6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608,0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129,3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85,8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448,1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1 412,5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7178040" y="1280160"/>
            <a:ext cx="4553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2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des fournisseurs échus</a:t>
            </a:r>
            <a:endParaRPr lang="en-US" sz="130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78040" y="1600200"/>
          <a:ext cx="4553712" cy="3291840"/>
        </p:xfrm>
        <a:graphic>
          <a:graphicData uri="http://schemas.openxmlformats.org/drawingml/2006/table">
            <a:tbl>
              <a:tblPr/>
              <a:tblGrid>
                <a:gridCol w="274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046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Entité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Fournisseur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Échu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61 j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FINAFRICA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 Yapo Koyo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17,3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7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17,3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FINAFRICA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Fournisseurs divers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7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FINAFRICA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LOXEA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7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RIVIERA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C2A Conseil Associés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7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PICI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LOXEA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7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PICI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Fournisseurs divers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7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PICI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SODECI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7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MONDON CONSEIL INTERNATIONAL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7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TERASSON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Forvis Mazars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7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PICI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Cabinet J-L Ruelle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7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10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89,0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68,2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457200" y="5074920"/>
            <a:ext cx="11247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b="1" dirty="0">
                <a:solidFill>
                  <a:srgbClr val="002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des urgences : 1 412,5 M FCFA (2 153 K€). </a:t>
            </a: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(469,6 M, dont 448,1 M FCFA / 683 K€ d'échéances de prêts, intérêts et capital) et PICI (271,2 M) concentrent 52 % du total. Les loyers FIRST à encaisser (129,6 M FCFA / 198 K€) couvrent 29 % de ces échéances.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b="1" dirty="0">
                <a:solidFill>
                  <a:srgbClr val="002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Fournisseurs échus : </a:t>
            </a: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141,2 M, dont 8 des 10 premières lignes ont plus de 61 jours ; Me Yapo Koyo (19,8 M, 4 entités), LOXEA (18,4 M, 2 entités) et C2A Conseil Associés (13,6 M, 2 entités) se retrouvent sur plusieurs entités.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b="1" dirty="0">
                <a:solidFill>
                  <a:srgbClr val="002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échoir, à surveiller : </a:t>
            </a: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– Redevance Diaby 42,5 M (Semaine 2) et Visuel 17,7 M (Semaine 3).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144768"/>
            <a:ext cx="11247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Impôts et cotisations échus = montants de la Semaine 1 (arriérés et semaine du 28/09) ; salaires et remboursements de prêts = Semaines 1 à 4. Hors intragroupe et hors droits d'enregistrement.</a:t>
            </a:r>
            <a:endParaRPr lang="en-US" sz="95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18520" y="6382512"/>
            <a:ext cx="530352" cy="329184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1612880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5608" y="914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2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Besoin de fonctionnement – 3. Trésorerie disponible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D8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Soldes dédiés au 30/09/2026 et loyers FIRST à encaisser, comparés aux besoins des Semaines 1 à 4 – MFCFA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6126480" cy="315468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Entité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Besoin Semaines 1-4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Trésorerie dédiée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Loyers à encaisser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Position Semaines 1-4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Position Semaine 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PICI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296,6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396,6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5E9B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+100,0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5E9B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+146,6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541,0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236,1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5E9B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129,6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-175,3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7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-129,3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TERASSON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264,6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58,3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-206,4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7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-206,4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RIVIERA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88,8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-87,3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7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-87,1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RHD CI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50,0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-50,0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7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-45,1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IMMONEUF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77,8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11,8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-66,0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7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-22,5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FINAFRICA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233,8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35,1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-198,7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7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-129,1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ODALYS CI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-3,5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7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-3,5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 CENTER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-6,3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7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-6,3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1 568,4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745,3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129,6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-693,5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-482,6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5" name="Chart 0"/>
          <p:cNvGraphicFramePr/>
          <p:nvPr/>
        </p:nvGraphicFramePr>
        <p:xfrm>
          <a:off x="6812280" y="1234440"/>
          <a:ext cx="493776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" name="Shape 2"/>
          <p:cNvSpPr/>
          <p:nvPr/>
        </p:nvSpPr>
        <p:spPr>
          <a:xfrm>
            <a:off x="457200" y="5120640"/>
            <a:ext cx="2011680" cy="1005840"/>
          </a:xfrm>
          <a:prstGeom prst="roundRect">
            <a:avLst>
              <a:gd name="adj" fmla="val 7273"/>
            </a:avLst>
          </a:prstGeom>
          <a:solidFill>
            <a:srgbClr val="E6F0EA"/>
          </a:solidFill>
          <a:ln w="12700">
            <a:solidFill>
              <a:srgbClr val="E6F0E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3"/>
          <p:cNvSpPr txBox="1"/>
          <p:nvPr/>
        </p:nvSpPr>
        <p:spPr>
          <a:xfrm>
            <a:off x="566928" y="5175504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5E9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+100,0 M</a:t>
            </a:r>
            <a:endParaRPr lang="en-US" sz="2000" dirty="0"/>
          </a:p>
        </p:txBody>
      </p:sp>
      <p:sp>
        <p:nvSpPr>
          <p:cNvPr id="8" name="Text 4"/>
          <p:cNvSpPr txBox="1"/>
          <p:nvPr/>
        </p:nvSpPr>
        <p:spPr>
          <a:xfrm>
            <a:off x="566928" y="5614416"/>
            <a:ext cx="17922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Excédent PICI, hors fonds projet Riviera Park</a:t>
            </a:r>
            <a:endParaRPr lang="en-US" sz="950" dirty="0"/>
          </a:p>
        </p:txBody>
      </p:sp>
      <p:sp>
        <p:nvSpPr>
          <p:cNvPr id="9" name="Shape 5"/>
          <p:cNvSpPr/>
          <p:nvPr/>
        </p:nvSpPr>
        <p:spPr>
          <a:xfrm>
            <a:off x="2606040" y="5120640"/>
            <a:ext cx="2011680" cy="1005840"/>
          </a:xfrm>
          <a:prstGeom prst="roundRect">
            <a:avLst>
              <a:gd name="adj" fmla="val 7273"/>
            </a:avLst>
          </a:prstGeom>
          <a:solidFill>
            <a:srgbClr val="F7E7E5"/>
          </a:solidFill>
          <a:ln w="12700">
            <a:solidFill>
              <a:srgbClr val="F7E7E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6"/>
          <p:cNvSpPr txBox="1"/>
          <p:nvPr/>
        </p:nvSpPr>
        <p:spPr>
          <a:xfrm>
            <a:off x="2715768" y="5175504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-793,5 M</a:t>
            </a:r>
            <a:endParaRPr lang="en-US" sz="2000" dirty="0"/>
          </a:p>
        </p:txBody>
      </p:sp>
      <p:sp>
        <p:nvSpPr>
          <p:cNvPr id="11" name="Text 7"/>
          <p:cNvSpPr txBox="1"/>
          <p:nvPr/>
        </p:nvSpPr>
        <p:spPr>
          <a:xfrm>
            <a:off x="2715768" y="5614416"/>
            <a:ext cx="17922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Besoins de trésorerie cumulés, 8 entités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4754880" y="5120640"/>
            <a:ext cx="2011680" cy="1005840"/>
          </a:xfrm>
          <a:prstGeom prst="roundRect">
            <a:avLst>
              <a:gd name="adj" fmla="val 7273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9"/>
          <p:cNvSpPr txBox="1"/>
          <p:nvPr/>
        </p:nvSpPr>
        <p:spPr>
          <a:xfrm>
            <a:off x="4864608" y="5175504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2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-693,5 M</a:t>
            </a:r>
            <a:endParaRPr lang="en-US" sz="2000" dirty="0"/>
          </a:p>
        </p:txBody>
      </p:sp>
      <p:sp>
        <p:nvSpPr>
          <p:cNvPr id="14" name="Text 10"/>
          <p:cNvSpPr txBox="1"/>
          <p:nvPr/>
        </p:nvSpPr>
        <p:spPr>
          <a:xfrm>
            <a:off x="4864608" y="5614416"/>
            <a:ext cx="17922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nette, entités prises séparément</a:t>
            </a:r>
            <a:endParaRPr lang="en-US" sz="950" dirty="0"/>
          </a:p>
        </p:txBody>
      </p:sp>
      <p:sp>
        <p:nvSpPr>
          <p:cNvPr id="15" name="Text 11"/>
          <p:cNvSpPr txBox="1"/>
          <p:nvPr/>
        </p:nvSpPr>
        <p:spPr>
          <a:xfrm>
            <a:off x="6949440" y="4343400"/>
            <a:ext cx="48006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00" b="1" dirty="0">
                <a:solidFill>
                  <a:srgbClr val="002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Loyers FIRST : </a:t>
            </a: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129,6 M à encaisser en octobre (DC/BR 40,1 ; JESA 37,7 ; LOG IVOIRE 20,0 ; ITOCHU 18,9 ; SBS 6,9 ; M&amp;H 6,0), affectés au service de la dette.</a:t>
            </a:r>
            <a:endParaRPr lang="en-US" sz="10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compté : </a:t>
            </a:r>
            <a:r>
              <a:rPr lang="en-US" sz="10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638,3 M d'impayés (État 524,0 ; LOG IVOIRE 73,2 ; GMK 37,3) et loyer annuel de l'État (349,7 M) attendu en novembre. Situation de l'État et date de paiement à confirmer avec SCI FIRST</a:t>
            </a: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00" b="1" dirty="0">
                <a:solidFill>
                  <a:srgbClr val="002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 BNI-RIVIERA courant : </a:t>
            </a: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1 772,0 M non comptés : affectation (placement ou fonctionnement) à décider ; couvrirait le besoin RIVIERA (87,3 M).</a:t>
            </a:r>
            <a:endParaRPr lang="en-US" sz="10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00" b="1" dirty="0">
                <a:solidFill>
                  <a:srgbClr val="002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Fonds non mobilisables : </a:t>
            </a: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1 195,6 M sur comptes affectés aux prêts (DSR, augmentation, LL, décaissements), non utilisables pour le fonctionnement.</a:t>
            </a:r>
            <a:endParaRPr lang="en-US" sz="1000" dirty="0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18520" y="6382512"/>
            <a:ext cx="530352" cy="32918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1612880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2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projets en cours – 1. Besoins de trésorerie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D8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plans de la Direction de programme (bilans financiers du 02/10/2026), septembre à novembre 2026 – € HT convertis en MFCFA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2679192" cy="896112"/>
          </a:xfrm>
          <a:prstGeom prst="roundRect">
            <a:avLst>
              <a:gd name="adj" fmla="val 8163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 txBox="1"/>
          <p:nvPr/>
        </p:nvSpPr>
        <p:spPr>
          <a:xfrm>
            <a:off x="594360" y="1307592"/>
            <a:ext cx="2404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2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7 418,4 M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746504"/>
            <a:ext cx="2404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Besoin projets septembre à novembre 2026 (11 309 K€ HT)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319272" y="1234440"/>
            <a:ext cx="2679192" cy="896112"/>
          </a:xfrm>
          <a:prstGeom prst="roundRect">
            <a:avLst>
              <a:gd name="adj" fmla="val 8163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 txBox="1"/>
          <p:nvPr/>
        </p:nvSpPr>
        <p:spPr>
          <a:xfrm>
            <a:off x="3456432" y="1307592"/>
            <a:ext cx="2404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2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3 810,1 M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3456432" y="1746504"/>
            <a:ext cx="2404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Village Notre Père (TERASSON) : 5 808 K€ HT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181344" y="1234440"/>
            <a:ext cx="2679192" cy="896112"/>
          </a:xfrm>
          <a:prstGeom prst="roundRect">
            <a:avLst>
              <a:gd name="adj" fmla="val 8163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 txBox="1"/>
          <p:nvPr/>
        </p:nvSpPr>
        <p:spPr>
          <a:xfrm>
            <a:off x="6318504" y="1307592"/>
            <a:ext cx="2404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2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3 608,3 M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6318504" y="1746504"/>
            <a:ext cx="2404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Riviera Park (RIVIERA) : 5 501 K€ HT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9043416" y="1234440"/>
            <a:ext cx="2679192" cy="896112"/>
          </a:xfrm>
          <a:prstGeom prst="roundRect">
            <a:avLst>
              <a:gd name="adj" fmla="val 8163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 txBox="1"/>
          <p:nvPr/>
        </p:nvSpPr>
        <p:spPr>
          <a:xfrm>
            <a:off x="9180576" y="1307592"/>
            <a:ext cx="2404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791,0 M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9180576" y="1746504"/>
            <a:ext cx="2404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dont frais financiers (hors frais de due diligence DWF : 823,6 M)</a:t>
            </a:r>
            <a:endParaRPr lang="en-US" sz="10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286000"/>
          <a:ext cx="11274552" cy="2468880"/>
        </p:xfrm>
        <a:graphic>
          <a:graphicData uri="http://schemas.openxmlformats.org/drawingml/2006/table">
            <a:tbl>
              <a:tblPr/>
              <a:tblGrid>
                <a:gridCol w="3566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46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46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46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0467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467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0467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Village Notre Père (TERASSON)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Riviera Park (RIVIERA)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Poste (MFCFA)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sept.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oct.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sept.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oct.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Foncier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11,9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14,7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26,6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30,4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Travaux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934,7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454,0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522,6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1 911,3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1 641,7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851,0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400,2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2 892,8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4 804,1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Honoraires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173,7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29,5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24,6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227,7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131,1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32,5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37,2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200,8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428,6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Autres dépenses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830,1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31,5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868,2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32,9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17,7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55,2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923,4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Honoraires de vente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440,9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440,9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440,9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Frais financiers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139,2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218,9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358,2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96,0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336,8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432,8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791,0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2 081,5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490,1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1 238,5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3 810,1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1 885,3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1 267,9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455,1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3 608,3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7 418,4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 K€ HT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3 173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1 888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5 808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2 874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1 933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5 501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11 309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7" name="Text 14"/>
          <p:cNvSpPr txBox="1"/>
          <p:nvPr/>
        </p:nvSpPr>
        <p:spPr>
          <a:xfrm>
            <a:off x="457200" y="4864608"/>
            <a:ext cx="11247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b="1" dirty="0">
                <a:solidFill>
                  <a:srgbClr val="002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Village Notre Père : </a:t>
            </a: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3 810,1 M, dont 1 911,3 M de travaux (50 %) ; premier poste : Gros œuvre &amp; installation de chantier 1 165,2 M ; pic en septembre (2 081,5 M).</a:t>
            </a:r>
            <a:endParaRPr lang="en-US" sz="10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b="1" dirty="0">
                <a:solidFill>
                  <a:srgbClr val="002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Riviera Park : </a:t>
            </a: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3 608,3 M, dont 2 892,8 M de travaux (80 %) ; premier poste : Gros oeuvre 1 455,9 M ; pic en septembre (1 885,3 M).</a:t>
            </a:r>
            <a:endParaRPr lang="en-US" sz="10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b="1" dirty="0">
                <a:solidFill>
                  <a:srgbClr val="002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Frais financiers inclus : </a:t>
            </a: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791,0 M (TERASSON 358,2 M ; RIVIERA 432,8 M) : coupons, frais intercalaires et commissions d'engagement, isolés ci-dessus. S'y ajoutent 823,6 M de frais de due diligence facturés par DWF sur TERASSON en septembre, classés « autres frais financiers » dans le cash plan (inclus en autres dépenses). Les frais de prêts du recap (IFC 32,9 M ; BNI 187,5 M) en relèvent et ne sont pas ajoutés.</a:t>
            </a:r>
            <a:endParaRPr lang="en-US" sz="10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b="1" dirty="0">
                <a:solidFill>
                  <a:srgbClr val="002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: </a:t>
            </a: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montants HT (TVA en sus), mois septembre à novembre 2026 des cash plans recalés, logique des montants communiqués par la Direction de programme. Pour mémoire, l'audit Semaines 1 à 4 retient 3 771,3 M TTC sur les projets. Situation à faire valider par les équipes PICI.</a:t>
            </a:r>
            <a:endParaRPr lang="en-US" sz="1050" dirty="0"/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18520" y="6382512"/>
            <a:ext cx="530352" cy="329184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11612880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2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projets en cours – 2. Top 10 des postes par projet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D8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Lignes du cash plan les plus lourdes sur septembre à novembre 2026 (montants HT) – MFCFA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80160"/>
            <a:ext cx="5532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2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TERASSON</a:t>
            </a: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Village Notre Père · 3 810,1 M sur 3 mois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0566656"/>
              </p:ext>
            </p:extLst>
          </p:nvPr>
        </p:nvGraphicFramePr>
        <p:xfrm>
          <a:off x="457200" y="1645920"/>
          <a:ext cx="5532120" cy="3456432"/>
        </p:xfrm>
        <a:graphic>
          <a:graphicData uri="http://schemas.openxmlformats.org/drawingml/2006/table">
            <a:tbl>
              <a:tblPr/>
              <a:tblGrid>
                <a:gridCol w="274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 err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Echu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oct.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Gros œuvre &amp; installation de chan…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392,7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379,8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392,7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1 165,2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2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Frais de due diligence (DWF)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DWF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823,6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823,6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2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FF&amp;E RT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235,3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235,3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2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CFA /SSI /GTB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222,0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222,0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2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Fonds de concours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205,6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205,6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2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Frais intercalaires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IFC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189,9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189,9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CFO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147,6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147,6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2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Frais Financiers Coupons Invest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139,2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139,2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Serrurerie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107,7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107,7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2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BET / MOE / SSI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54,0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13,5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13,5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81,0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2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Sous-total Top 10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1 886,8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393,3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1 037,0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3 317,1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2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Autres lignes (21)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194,8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96,8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201,5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493,0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TERASSON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2 081,5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490,1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1 238,5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3 810,1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6199632" y="1280160"/>
            <a:ext cx="5532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2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RIVIERA</a:t>
            </a: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Riviera Park · 3 608,3 M sur 3 mois</a:t>
            </a:r>
            <a:endParaRPr lang="en-US" sz="13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2756332"/>
              </p:ext>
            </p:extLst>
          </p:nvPr>
        </p:nvGraphicFramePr>
        <p:xfrm>
          <a:off x="6199632" y="1645920"/>
          <a:ext cx="5532120" cy="3456432"/>
        </p:xfrm>
        <a:graphic>
          <a:graphicData uri="http://schemas.openxmlformats.org/drawingml/2006/table">
            <a:tbl>
              <a:tblPr/>
              <a:tblGrid>
                <a:gridCol w="274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 err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Echu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oct.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Gros oeuvre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707,6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324,9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423,4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1 455,9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2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Frais intercalaires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331,3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331,3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Charpente metallique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275,6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50,3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325,9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2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VRD - Espaces verts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UNISERV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208,7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42,0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57,7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308,4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2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CFO - Courants forts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218,8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218,8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2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Couverture &amp; Bardage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141,4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141,4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2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Plomberie RIA - FC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136,4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136,4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2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Fondations spéciales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100,5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100,5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2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Frais Financiers Coupons Invest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96,0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96,0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Climatisation &amp; Ventilation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92,9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92,9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2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Sous-total Top 10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1 530,0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1 146,3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531,3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3 207,6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2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Autres lignes (23)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355,3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121,6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-76,3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400,7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RIVIERA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1 885,3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1 267,9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455,1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3 608,3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457200" y="5440680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b="1" dirty="0">
                <a:solidFill>
                  <a:srgbClr val="002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Village Notre Père : </a:t>
            </a: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Top 10 représente 87 % du besoin (3 317,1 M) ; Gros œuvre &amp; installation de chantier 1 165,2 M, frais de due diligence DWF 823,6 M (classés « autres frais financiers » dans le cash plan, nature à confirmer avec la Direction de programme) et FF&amp;E RT 235,3 M.</a:t>
            </a:r>
            <a:endParaRPr lang="en-US" sz="10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b="1" dirty="0">
                <a:solidFill>
                  <a:srgbClr val="002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Riviera Park : </a:t>
            </a: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Top 10 représente 89 % du besoin (3 207,6 M) ; Gros oeuvre 1 455,9 M, Frais intercalaires 331,3 M et Charpente metallique 325,9 M.</a:t>
            </a:r>
            <a:endParaRPr lang="en-US" sz="10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18520" y="6382512"/>
            <a:ext cx="530352" cy="329184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1612880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2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projets en cours – 3. Trésorerie et couverture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D8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Soldes dédiés CPI au 30/09/2026 comparés au besoin cumulé des cash plans, septembre à novembre 2026 – MFCFA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2679192" cy="896112"/>
          </a:xfrm>
          <a:prstGeom prst="roundRect">
            <a:avLst>
              <a:gd name="adj" fmla="val 8163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 txBox="1"/>
          <p:nvPr/>
        </p:nvSpPr>
        <p:spPr>
          <a:xfrm>
            <a:off x="594360" y="1307592"/>
            <a:ext cx="2404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2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4 125,0 M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746504"/>
            <a:ext cx="2404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Trésorerie dédiée projets (CPI)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319272" y="1234440"/>
            <a:ext cx="2679192" cy="896112"/>
          </a:xfrm>
          <a:prstGeom prst="roundRect">
            <a:avLst>
              <a:gd name="adj" fmla="val 8163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 txBox="1"/>
          <p:nvPr/>
        </p:nvSpPr>
        <p:spPr>
          <a:xfrm>
            <a:off x="3456432" y="1307592"/>
            <a:ext cx="2404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2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7 418,4 M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3456432" y="1746504"/>
            <a:ext cx="2404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Besoin </a:t>
            </a:r>
            <a:r>
              <a:rPr lang="en-US" sz="105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cumulé</a:t>
            </a: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octobre</a:t>
            </a: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à novembre 2026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181344" y="1234440"/>
            <a:ext cx="2679192" cy="896112"/>
          </a:xfrm>
          <a:prstGeom prst="roundRect">
            <a:avLst>
              <a:gd name="adj" fmla="val 8163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 txBox="1"/>
          <p:nvPr/>
        </p:nvSpPr>
        <p:spPr>
          <a:xfrm>
            <a:off x="6318504" y="1307592"/>
            <a:ext cx="2404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-3 293,3 M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6318504" y="1746504"/>
            <a:ext cx="2404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fin novembre, projets pris séparément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9043416" y="1234440"/>
            <a:ext cx="2679192" cy="896112"/>
          </a:xfrm>
          <a:prstGeom prst="roundRect">
            <a:avLst>
              <a:gd name="adj" fmla="val 8163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 txBox="1"/>
          <p:nvPr/>
        </p:nvSpPr>
        <p:spPr>
          <a:xfrm>
            <a:off x="9180576" y="1307592"/>
            <a:ext cx="2404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Septembre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9180576" y="1746504"/>
            <a:ext cx="2404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TERASSON : mois où la trésorerie dédiée est épuisée</a:t>
            </a:r>
            <a:endParaRPr lang="en-US" sz="10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286000"/>
          <a:ext cx="7040880" cy="1709928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Trésorerie dédiée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Cumul fin sept.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Cumul fin oct.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Cumul fin nov.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Position fin nov.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TERASSON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BNI-TERASSON / Fonds proj…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1 481,9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2 081,5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7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2 571,6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7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3 810,1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7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-2 328,2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7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RIVIERA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BNI-PICI / Fonds projet RP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2 643,1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5E9B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1 885,3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3 153,2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7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3 608,3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7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-965,2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7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4 125,0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3 966,8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5 724,8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7 418,4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-3 293,3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7" name="Shape 14"/>
          <p:cNvSpPr/>
          <p:nvPr/>
        </p:nvSpPr>
        <p:spPr>
          <a:xfrm>
            <a:off x="457200" y="4096512"/>
            <a:ext cx="201168" cy="146304"/>
          </a:xfrm>
          <a:prstGeom prst="rect">
            <a:avLst/>
          </a:prstGeom>
          <a:solidFill>
            <a:srgbClr val="F7E7E5"/>
          </a:solidFill>
          <a:ln w="6350">
            <a:solidFill>
              <a:srgbClr val="D5DBE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5"/>
          <p:cNvSpPr txBox="1"/>
          <p:nvPr/>
        </p:nvSpPr>
        <p:spPr>
          <a:xfrm>
            <a:off x="731520" y="406908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Besoin cumulé &gt; trésorerie dédiée</a:t>
            </a:r>
            <a:endParaRPr lang="en-US" sz="95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379976"/>
          <a:ext cx="7040880" cy="68580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Autres fonds des entités projets (non comptés)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Destination (position)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MFCFA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RIVIERA – BNI-RIVIERA(Courant)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Placement ou fonctionnement (à arbitrer)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1 772,0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RIVIERA – BNI-RIVIERA(DSRA) / Placement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DSR / Augmentation / LL / Disbursement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776,1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0" name="Chart 0"/>
          <p:cNvGraphicFramePr/>
          <p:nvPr/>
        </p:nvGraphicFramePr>
        <p:xfrm>
          <a:off x="7726680" y="2194560"/>
          <a:ext cx="402336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1" name="Text 16"/>
          <p:cNvSpPr txBox="1"/>
          <p:nvPr/>
        </p:nvSpPr>
        <p:spPr>
          <a:xfrm>
            <a:off x="457200" y="5486400"/>
            <a:ext cx="112471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b="1" dirty="0">
                <a:solidFill>
                  <a:srgbClr val="002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TERASSON : </a:t>
            </a: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trésorerie dédiée de 1 481,9 M épuisée en septembre (besoin du mois 2 081,5 M) ; 2 328,2 M à financer d'ici fin novembre.</a:t>
            </a:r>
            <a:endParaRPr lang="en-US" sz="10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b="1" dirty="0">
                <a:solidFill>
                  <a:srgbClr val="002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RIVIERA : </a:t>
            </a: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trésorerie dédiée de 2 643,1 M épuisée en octobre (besoin cumulé 3 153,2 M) ; 965,2 M à financer d'ici fin novembre.</a:t>
            </a:r>
            <a:endParaRPr lang="en-US" sz="10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b="1" dirty="0">
                <a:solidFill>
                  <a:srgbClr val="002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arbitrer : </a:t>
            </a: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BNI-RIVIERA(Courant) (1 772,0 M, « placement ou fonctionnement ») couvrirait le besoin RIVIERA (965,2 M) s'il était affecté au projet.</a:t>
            </a:r>
            <a:endParaRPr lang="en-US" sz="1050" dirty="0"/>
          </a:p>
        </p:txBody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18520" y="6382512"/>
            <a:ext cx="530352" cy="329184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1612880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2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projets en cours – 4. Suivi des financements en cours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D8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Financements accordés et tirages au 02/10/2026 (tableau de suivi des prêts) – MFCFA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5532120" cy="896112"/>
          </a:xfrm>
          <a:prstGeom prst="roundRect">
            <a:avLst>
              <a:gd name="adj" fmla="val 8163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 txBox="1"/>
          <p:nvPr/>
        </p:nvSpPr>
        <p:spPr>
          <a:xfrm>
            <a:off x="594360" y="1307592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2 328,2 M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746504"/>
            <a:ext cx="5257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TERASSON : à financer (</a:t>
            </a:r>
            <a:r>
              <a:rPr lang="en-US" sz="105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besoin</a:t>
            </a: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octobre</a:t>
            </a: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à novembre 2026 – trésorerie dédiée)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199632" y="1234440"/>
            <a:ext cx="5532120" cy="896112"/>
          </a:xfrm>
          <a:prstGeom prst="roundRect">
            <a:avLst>
              <a:gd name="adj" fmla="val 8163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 txBox="1"/>
          <p:nvPr/>
        </p:nvSpPr>
        <p:spPr>
          <a:xfrm>
            <a:off x="6336792" y="1307592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965,2 M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6336792" y="1746504"/>
            <a:ext cx="5257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RIVIERA : à financer (</a:t>
            </a:r>
            <a:r>
              <a:rPr lang="en-US" sz="105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besoin</a:t>
            </a: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octobre</a:t>
            </a: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à novembre 2026 – trésorerie dédiée)</a:t>
            </a:r>
            <a:endParaRPr lang="en-US" sz="10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331720"/>
          <a:ext cx="11274552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148840"/>
                <a:gridCol w="1234440"/>
                <a:gridCol w="1097280"/>
                <a:gridCol w="914400"/>
                <a:gridCol w="1005840"/>
                <a:gridCol w="1097280"/>
                <a:gridCol w="2221992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Financement / source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Prêteur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Montant accordé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Déjà tiré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Reste à tirer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Prochain tirage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Statut / conditions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</a:tr>
              <a:tr h="224028">
                <a:tc rowSpan="6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TERASSON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Village Notre Père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t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Prêt senior (16,26 M€)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IFC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10 668,5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à confirmer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à confirmer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Conditions CTA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EURIBOR + 3,5 % ; int. 30/12 : 94,4 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 vMerge="1">
                  <a:tcPr/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Prêt senior (16,26 M€)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Proparco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10 668,5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à confirmer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à confirmer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Conditions CTA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EURIBOR + 3,5 % ; int. 30/12 : 94,4 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 vMerge="1">
                  <a:tcPr/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Prêt d'actionnaires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CNPS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7 158,8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7 158,8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Tiré (2 × 50 %)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6,25 % fixe ; coupon 31/10 : 112,8 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 vMerge="1">
                  <a:tcPr/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Prêt d'actionnaires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14 317,5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i="1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partiel*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i="1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solde*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i="1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d'ici le 31/10*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6,25 % fixe ; coupon 31/10 : 207,5 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 vMerge="1">
                  <a:tcPr/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Prêt d'actionnaires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584,4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584,4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Tiré (2 × 50 %)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6,25 % fixe ; coupon 31/10 : 9,2 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 vMerge="1">
                  <a:tcPr/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Prêt d'actionnaires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CGRAE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7 158,8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i="1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partiel*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i="1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solde*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i="1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d'ici le 31/10*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6,25 % fixe ; coupon 31/10 : 71,6 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 gridSpan="3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TERASSON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50 556,4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224028">
                <a:tc rowSpan="5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RIVIERA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Riviera Park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t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Prêt bancaire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BNI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10 000,0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10 000,0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Débloqué le 17/07/2025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7,5 % ; échéance 17/10 : 206,3 M ; principal différé au 17/10/2027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 vMerge="1">
                  <a:tcPr/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Prêt d'actionnaires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CNPS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7 129,4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7 129,4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Tiré (2 × 50 %)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6,25 % fixe ; coupon 31/10 : 112,3 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 vMerge="1">
                  <a:tcPr/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Prêt d'actionnaires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14 258,9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14 258,9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Tiré (2 × 50 %)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6,25 % fixe ; coupon 31/10 : 224,6 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 vMerge="1">
                  <a:tcPr/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Prêt d'actionnaires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582,0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582,0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Tiré (2 × 50 %)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6,25 % fixe ; coupon 31/10 : 9,2 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 vMerge="1">
                  <a:tcPr/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Prêt d'actionnaires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CGRAE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7 129,4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i="1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1 000*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i="1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6 129*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i="1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nov. à janv.*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6,25 % fixe ; coupon 31/10 : 15,8 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 gridSpan="3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RIVIERA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39 099,7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</a:tbl>
          </a:graphicData>
        </a:graphic>
      </p:graphicFrame>
      <p:sp>
        <p:nvSpPr>
          <p:cNvPr id="10" name="Text 8"/>
          <p:cNvSpPr txBox="1"/>
          <p:nvPr/>
        </p:nvSpPr>
        <p:spPr>
          <a:xfrm>
            <a:off x="457200" y="5646420"/>
            <a:ext cx="11247120" cy="681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02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: </a:t>
            </a:r>
            <a:pPr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TERASSON : 50 556 M accordés, dont 21 337 M IFC / Proparco à décaisser selon le CTA, ressource identifiée pour les 2 328,2 M à financer. RIVIERA : BNI débloqué et associés tirés, sauf CGRAE (≈ 6 129 M à tirer), qui couvrirait les 965,2 M à financer.</a:t>
            </a:r>
            <a:endParaRPr lang="en-US" sz="1000" dirty="0"/>
          </a:p>
          <a:p>
            <a:pPr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Estimé à partir des coupons trimestriels à 6,25 %, à confirmer avec les relevés de tirage. Prêts d'actionnaires convertibles en ORA (AG d'approbation des comptes ou 30/06/2027).</a:t>
            </a:r>
            <a:endParaRPr lang="en-US" sz="100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18520" y="6382512"/>
            <a:ext cx="530352" cy="32918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1612880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4053</TotalTime>
  <Words>3351</Words>
  <Application>Microsoft Office PowerPoint</Application>
  <PresentationFormat>Grand écran</PresentationFormat>
  <Paragraphs>825</Paragraphs>
  <Slides>10</Slides>
  <Notes>10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Sociétés RCI – Besoins de financement : fonctionnement et projets</dc:title>
  <dc:subject>PptxGenJS Presentation</dc:subject>
  <dc:creator>KOUADIO Ange</dc:creator>
  <cp:lastModifiedBy>KOUASSI - OLSSON Laureen</cp:lastModifiedBy>
  <cp:revision>4</cp:revision>
  <dcterms:created xsi:type="dcterms:W3CDTF">2026-10-02T15:33:31Z</dcterms:created>
  <dcterms:modified xsi:type="dcterms:W3CDTF">2026-10-05T12:25:10Z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333f31a-a91f-4b93-bbcd-5ddf027d1ae6_Enabled">
    <vt:lpwstr>true</vt:lpwstr>
  </property>
  <property fmtid="{D5CDD505-2E9C-101B-9397-08002B2CF9AE}" pid="3" name="MSIP_Label_4333f31a-a91f-4b93-bbcd-5ddf027d1ae6_SetDate">
    <vt:lpwstr>2026-10-02T15:52:49Z</vt:lpwstr>
  </property>
  <property fmtid="{D5CDD505-2E9C-101B-9397-08002B2CF9AE}" pid="4" name="MSIP_Label_4333f31a-a91f-4b93-bbcd-5ddf027d1ae6_Method">
    <vt:lpwstr>Standard</vt:lpwstr>
  </property>
  <property fmtid="{D5CDD505-2E9C-101B-9397-08002B2CF9AE}" pid="5" name="MSIP_Label_4333f31a-a91f-4b93-bbcd-5ddf027d1ae6_Name">
    <vt:lpwstr>C0</vt:lpwstr>
  </property>
  <property fmtid="{D5CDD505-2E9C-101B-9397-08002B2CF9AE}" pid="6" name="MSIP_Label_4333f31a-a91f-4b93-bbcd-5ddf027d1ae6_SiteId">
    <vt:lpwstr>f7e1e464-7e4d-4e93-9f42-de95ee7dcd32</vt:lpwstr>
  </property>
  <property fmtid="{D5CDD505-2E9C-101B-9397-08002B2CF9AE}" pid="7" name="MSIP_Label_4333f31a-a91f-4b93-bbcd-5ddf027d1ae6_ActionId">
    <vt:lpwstr>3560635f-d622-494a-9bdb-341daa3464b3</vt:lpwstr>
  </property>
  <property fmtid="{D5CDD505-2E9C-101B-9397-08002B2CF9AE}" pid="8" name="MSIP_Label_4333f31a-a91f-4b93-bbcd-5ddf027d1ae6_ContentBits">
    <vt:lpwstr>0</vt:lpwstr>
  </property>
  <property fmtid="{D5CDD505-2E9C-101B-9397-08002B2CF9AE}" pid="9" name="MSIP_Label_4333f31a-a91f-4b93-bbcd-5ddf027d1ae6_Tag">
    <vt:lpwstr>10, 3, 0, 1</vt:lpwstr>
  </property>
</Properties>
</file>