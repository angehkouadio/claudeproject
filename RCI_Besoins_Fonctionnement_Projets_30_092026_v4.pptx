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9A3F6-F290-447F-ADD3-BA3C7F679B38}" v="40" dt="2026-10-05T16:15:43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ADIO Ange" userId="1145af44-6c2b-4143-8dbe-dbdc2051e0cf" providerId="ADAL" clId="{D76DAE80-3099-4F61-B03C-9DDDDB396194}"/>
    <pc:docChg chg="undo custSel addSld delSld modSld">
      <pc:chgData name="KOUADIO Ange" userId="1145af44-6c2b-4143-8dbe-dbdc2051e0cf" providerId="ADAL" clId="{D76DAE80-3099-4F61-B03C-9DDDDB396194}" dt="2026-10-05T16:16:08.969" v="929" actId="6549"/>
      <pc:docMkLst>
        <pc:docMk/>
      </pc:docMkLst>
      <pc:sldChg chg="modSp mod">
        <pc:chgData name="KOUADIO Ange" userId="1145af44-6c2b-4143-8dbe-dbdc2051e0cf" providerId="ADAL" clId="{D76DAE80-3099-4F61-B03C-9DDDDB396194}" dt="2026-10-05T16:09:58.510" v="826" actId="20577"/>
        <pc:sldMkLst>
          <pc:docMk/>
          <pc:sldMk cId="0" sldId="257"/>
        </pc:sldMkLst>
        <pc:spChg chg="mod">
          <ac:chgData name="KOUADIO Ange" userId="1145af44-6c2b-4143-8dbe-dbdc2051e0cf" providerId="ADAL" clId="{D76DAE80-3099-4F61-B03C-9DDDDB396194}" dt="2026-10-05T14:42:52.041" v="56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6:09:58.510" v="826" actId="20577"/>
          <ac:spMkLst>
            <pc:docMk/>
            <pc:sldMk cId="0" sldId="257"/>
            <ac:spMk id="28" creationId="{00000000-0000-0000-0000-000000000000}"/>
          </ac:spMkLst>
        </pc:spChg>
      </pc:sldChg>
      <pc:sldChg chg="modSp mod modCm">
        <pc:chgData name="KOUADIO Ange" userId="1145af44-6c2b-4143-8dbe-dbdc2051e0cf" providerId="ADAL" clId="{D76DAE80-3099-4F61-B03C-9DDDDB396194}" dt="2026-10-05T14:27:08.695" v="64" actId="20577"/>
        <pc:sldMkLst>
          <pc:docMk/>
          <pc:sldMk cId="0" sldId="259"/>
        </pc:sldMkLst>
        <pc:spChg chg="mod">
          <ac:chgData name="KOUADIO Ange" userId="1145af44-6c2b-4143-8dbe-dbdc2051e0cf" providerId="ADAL" clId="{D76DAE80-3099-4F61-B03C-9DDDDB396194}" dt="2026-10-05T14:27:08.695" v="64" actId="20577"/>
          <ac:spMkLst>
            <pc:docMk/>
            <pc:sldMk cId="0" sldId="259"/>
            <ac:spMk id="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OUADIO Ange" userId="1145af44-6c2b-4143-8dbe-dbdc2051e0cf" providerId="ADAL" clId="{D76DAE80-3099-4F61-B03C-9DDDDB396194}" dt="2026-10-05T14:27:08.695" v="64" actId="20577"/>
              <pc2:cmMkLst xmlns:pc2="http://schemas.microsoft.com/office/powerpoint/2019/9/main/command">
                <pc:docMk/>
                <pc:sldMk cId="0" sldId="259"/>
                <pc2:cmMk id="{0C1F57D5-4001-495A-B3D1-7B0F96236F4B}"/>
              </pc2:cmMkLst>
            </pc226:cmChg>
          </p:ext>
        </pc:extLst>
      </pc:sldChg>
      <pc:sldChg chg="delSp modSp mod modCm">
        <pc:chgData name="KOUADIO Ange" userId="1145af44-6c2b-4143-8dbe-dbdc2051e0cf" providerId="ADAL" clId="{D76DAE80-3099-4F61-B03C-9DDDDB396194}" dt="2026-10-05T14:41:15.764" v="564" actId="20577"/>
        <pc:sldMkLst>
          <pc:docMk/>
          <pc:sldMk cId="0" sldId="260"/>
        </pc:sldMkLst>
        <pc:spChg chg="mod">
          <ac:chgData name="KOUADIO Ange" userId="1145af44-6c2b-4143-8dbe-dbdc2051e0cf" providerId="ADAL" clId="{D76DAE80-3099-4F61-B03C-9DDDDB396194}" dt="2026-10-05T14:24:47.534" v="28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4:33:26.053" v="340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4:35:49.275" v="470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4:33:36.340" v="370" actId="1038"/>
          <ac:spMkLst>
            <pc:docMk/>
            <pc:sldMk cId="0" sldId="260"/>
            <ac:spMk id="9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4:33:47.461" v="395" actId="103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4:37:07.180" v="471" actId="313"/>
          <ac:spMkLst>
            <pc:docMk/>
            <pc:sldMk cId="0" sldId="260"/>
            <ac:spMk id="11" creationId="{00000000-0000-0000-0000-000000000000}"/>
          </ac:spMkLst>
        </pc:spChg>
        <pc:spChg chg="del">
          <ac:chgData name="KOUADIO Ange" userId="1145af44-6c2b-4143-8dbe-dbdc2051e0cf" providerId="ADAL" clId="{D76DAE80-3099-4F61-B03C-9DDDDB396194}" dt="2026-10-05T14:33:19.943" v="339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KOUADIO Ange" userId="1145af44-6c2b-4143-8dbe-dbdc2051e0cf" providerId="ADAL" clId="{D76DAE80-3099-4F61-B03C-9DDDDB396194}" dt="2026-10-05T14:33:19.943" v="339" actId="478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KOUADIO Ange" userId="1145af44-6c2b-4143-8dbe-dbdc2051e0cf" providerId="ADAL" clId="{D76DAE80-3099-4F61-B03C-9DDDDB396194}" dt="2026-10-05T14:33:19.943" v="339" actId="47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4:41:15.764" v="564" actId="20577"/>
          <ac:spMkLst>
            <pc:docMk/>
            <pc:sldMk cId="0" sldId="260"/>
            <ac:spMk id="15" creationId="{00000000-0000-0000-0000-000000000000}"/>
          </ac:spMkLst>
        </pc:spChg>
        <pc:graphicFrameChg chg="modGraphic">
          <ac:chgData name="KOUADIO Ange" userId="1145af44-6c2b-4143-8dbe-dbdc2051e0cf" providerId="ADAL" clId="{D76DAE80-3099-4F61-B03C-9DDDDB396194}" dt="2026-10-05T14:25:09.867" v="44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OUADIO Ange" userId="1145af44-6c2b-4143-8dbe-dbdc2051e0cf" providerId="ADAL" clId="{D76DAE80-3099-4F61-B03C-9DDDDB396194}" dt="2026-10-05T14:40:41.989" v="563" actId="20577"/>
              <pc2:cmMkLst xmlns:pc2="http://schemas.microsoft.com/office/powerpoint/2019/9/main/command">
                <pc:docMk/>
                <pc:sldMk cId="0" sldId="260"/>
                <pc2:cmMk id="{934CCE8E-F498-412F-AB00-DB5895FE64E6}"/>
              </pc2:cmMkLst>
            </pc226:cmChg>
            <pc226:cmChg xmlns:pc226="http://schemas.microsoft.com/office/powerpoint/2022/06/main/command" chg="mod">
              <pc226:chgData name="KOUADIO Ange" userId="1145af44-6c2b-4143-8dbe-dbdc2051e0cf" providerId="ADAL" clId="{D76DAE80-3099-4F61-B03C-9DDDDB396194}" dt="2026-10-05T14:40:41.989" v="563" actId="20577"/>
              <pc2:cmMkLst xmlns:pc2="http://schemas.microsoft.com/office/powerpoint/2019/9/main/command">
                <pc:docMk/>
                <pc:sldMk cId="0" sldId="260"/>
                <pc2:cmMk id="{216C0CFF-915B-4429-BB3D-65F5F0426469}"/>
              </pc2:cmMkLst>
            </pc226:cmChg>
          </p:ext>
        </pc:extLst>
      </pc:sldChg>
      <pc:sldChg chg="addSp modSp del mod modCm">
        <pc:chgData name="KOUADIO Ange" userId="1145af44-6c2b-4143-8dbe-dbdc2051e0cf" providerId="ADAL" clId="{D76DAE80-3099-4F61-B03C-9DDDDB396194}" dt="2026-10-05T16:09:40.587" v="825" actId="47"/>
        <pc:sldMkLst>
          <pc:docMk/>
          <pc:sldMk cId="0" sldId="263"/>
        </pc:sldMkLst>
        <pc:spChg chg="mod">
          <ac:chgData name="KOUADIO Ange" userId="1145af44-6c2b-4143-8dbe-dbdc2051e0cf" providerId="ADAL" clId="{D76DAE80-3099-4F61-B03C-9DDDDB396194}" dt="2026-10-05T15:57:41.441" v="822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5:41:30.914" v="705" actId="20577"/>
          <ac:spMkLst>
            <pc:docMk/>
            <pc:sldMk cId="0" sldId="263"/>
            <ac:spMk id="8" creationId="{00000000-0000-0000-0000-000000000000}"/>
          </ac:spMkLst>
        </pc:spChg>
        <pc:spChg chg="add mod">
          <ac:chgData name="KOUADIO Ange" userId="1145af44-6c2b-4143-8dbe-dbdc2051e0cf" providerId="ADAL" clId="{D76DAE80-3099-4F61-B03C-9DDDDB396194}" dt="2026-10-05T16:03:07.784" v="823" actId="6549"/>
          <ac:spMkLst>
            <pc:docMk/>
            <pc:sldMk cId="0" sldId="263"/>
            <ac:spMk id="11" creationId="{65A99AF2-DE75-A669-1928-2AF2B6404333}"/>
          </ac:spMkLst>
        </pc:spChg>
        <pc:graphicFrameChg chg="mod modGraphic">
          <ac:chgData name="KOUADIO Ange" userId="1145af44-6c2b-4143-8dbe-dbdc2051e0cf" providerId="ADAL" clId="{D76DAE80-3099-4F61-B03C-9DDDDB396194}" dt="2026-10-05T15:43:00.219" v="725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  <pc:graphicFrameChg chg="modGraphic">
          <ac:chgData name="KOUADIO Ange" userId="1145af44-6c2b-4143-8dbe-dbdc2051e0cf" providerId="ADAL" clId="{D76DAE80-3099-4F61-B03C-9DDDDB396194}" dt="2026-10-05T15:53:45.363" v="820" actId="14734"/>
          <ac:graphicFrameMkLst>
            <pc:docMk/>
            <pc:sldMk cId="0" sldId="263"/>
            <ac:graphicFrameMk id="17" creationId="{00000000-0000-0000-0000-000000000000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OUADIO Ange" userId="1145af44-6c2b-4143-8dbe-dbdc2051e0cf" providerId="ADAL" clId="{D76DAE80-3099-4F61-B03C-9DDDDB396194}" dt="2026-10-05T15:42:02.249" v="708" actId="20577"/>
              <pc2:cmMkLst xmlns:pc2="http://schemas.microsoft.com/office/powerpoint/2019/9/main/command">
                <pc:docMk/>
                <pc:sldMk cId="0" sldId="263"/>
                <pc2:cmMk id="{7A8D646E-8A3A-4A73-9B4D-837D63920065}"/>
              </pc2:cmMkLst>
            </pc226:cmChg>
          </p:ext>
        </pc:extLst>
      </pc:sldChg>
      <pc:sldChg chg="modSp mod">
        <pc:chgData name="KOUADIO Ange" userId="1145af44-6c2b-4143-8dbe-dbdc2051e0cf" providerId="ADAL" clId="{D76DAE80-3099-4F61-B03C-9DDDDB396194}" dt="2026-10-05T15:11:03.498" v="642" actId="20577"/>
        <pc:sldMkLst>
          <pc:docMk/>
          <pc:sldMk cId="0" sldId="264"/>
        </pc:sldMkLst>
        <pc:spChg chg="mod">
          <ac:chgData name="KOUADIO Ange" userId="1145af44-6c2b-4143-8dbe-dbdc2051e0cf" providerId="ADAL" clId="{D76DAE80-3099-4F61-B03C-9DDDDB396194}" dt="2026-10-05T15:11:03.498" v="642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5:10:14.851" v="602" actId="20577"/>
          <ac:spMkLst>
            <pc:docMk/>
            <pc:sldMk cId="0" sldId="264"/>
            <ac:spMk id="21" creationId="{00000000-0000-0000-0000-000000000000}"/>
          </ac:spMkLst>
        </pc:spChg>
        <pc:graphicFrameChg chg="modGraphic">
          <ac:chgData name="KOUADIO Ange" userId="1145af44-6c2b-4143-8dbe-dbdc2051e0cf" providerId="ADAL" clId="{D76DAE80-3099-4F61-B03C-9DDDDB396194}" dt="2026-10-05T15:09:40.945" v="601" actId="20577"/>
          <ac:graphicFrameMkLst>
            <pc:docMk/>
            <pc:sldMk cId="0" sldId="264"/>
            <ac:graphicFrameMk id="19" creationId="{00000000-0000-0000-0000-000000000000}"/>
          </ac:graphicFrameMkLst>
        </pc:graphicFrameChg>
      </pc:sldChg>
      <pc:sldChg chg="modSp mod modCm">
        <pc:chgData name="KOUADIO Ange" userId="1145af44-6c2b-4143-8dbe-dbdc2051e0cf" providerId="ADAL" clId="{D76DAE80-3099-4F61-B03C-9DDDDB396194}" dt="2026-10-05T16:16:08.969" v="929" actId="6549"/>
        <pc:sldMkLst>
          <pc:docMk/>
          <pc:sldMk cId="0" sldId="266"/>
        </pc:sldMkLst>
        <pc:spChg chg="mod">
          <ac:chgData name="KOUADIO Ange" userId="1145af44-6c2b-4143-8dbe-dbdc2051e0cf" providerId="ADAL" clId="{D76DAE80-3099-4F61-B03C-9DDDDB396194}" dt="2026-10-05T14:42:35.039" v="565"/>
          <ac:spMkLst>
            <pc:docMk/>
            <pc:sldMk cId="0" sldId="266"/>
            <ac:spMk id="2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4:43:38.779" v="568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5T16:16:08.969" v="929" actId="6549"/>
          <ac:spMkLst>
            <pc:docMk/>
            <pc:sldMk cId="0" sldId="266"/>
            <ac:spMk id="17" creationId="{00000000-0000-0000-0000-000000000000}"/>
          </ac:spMkLst>
        </pc:spChg>
        <pc:graphicFrameChg chg="mod modGraphic">
          <ac:chgData name="KOUADIO Ange" userId="1145af44-6c2b-4143-8dbe-dbdc2051e0cf" providerId="ADAL" clId="{D76DAE80-3099-4F61-B03C-9DDDDB396194}" dt="2026-10-05T16:15:56.855" v="928" actId="207"/>
          <ac:graphicFrameMkLst>
            <pc:docMk/>
            <pc:sldMk cId="0" sldId="266"/>
            <ac:graphicFrameMk id="16" creationId="{00000000-0000-0000-0000-000000000000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OUADIO Ange" userId="1145af44-6c2b-4143-8dbe-dbdc2051e0cf" providerId="ADAL" clId="{D76DAE80-3099-4F61-B03C-9DDDDB396194}" dt="2026-10-05T14:42:35.039" v="565"/>
              <pc2:cmMkLst xmlns:pc2="http://schemas.microsoft.com/office/powerpoint/2019/9/main/command">
                <pc:docMk/>
                <pc:sldMk cId="0" sldId="266"/>
                <pc2:cmMk id="{5108D074-33B9-4A15-AAB2-98709A1856E0}"/>
              </pc2:cmMkLst>
            </pc226:cmChg>
          </p:ext>
        </pc:extLst>
      </pc:sldChg>
      <pc:sldChg chg="add">
        <pc:chgData name="KOUADIO Ange" userId="1145af44-6c2b-4143-8dbe-dbdc2051e0cf" providerId="ADAL" clId="{D76DAE80-3099-4F61-B03C-9DDDDB396194}" dt="2026-10-05T16:08:27.523" v="824"/>
        <pc:sldMkLst>
          <pc:docMk/>
          <pc:sldMk cId="0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002C50"/>
                </a:solidFill>
                <a:latin typeface="Calibri"/>
              </a:rPr>
              <a:t>Position nette par entité après loyers, Semaines 1 à 4 (MFCFA)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 Semaines 1 à 4</c:v>
                </c:pt>
              </c:strCache>
            </c:strRef>
          </c:tx>
          <c:spPr>
            <a:solidFill>
              <a:srgbClr val="5E9B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6B-4478-AE89-ABE93E009289}"/>
              </c:ext>
            </c:extLst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6B-4478-AE89-ABE93E009289}"/>
              </c:ext>
            </c:extLst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6B-4478-AE89-ABE93E009289}"/>
              </c:ext>
            </c:extLst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6B-4478-AE89-ABE93E009289}"/>
              </c:ext>
            </c:extLst>
          </c:dPt>
          <c:dPt>
            <c:idx val="4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6B-4478-AE89-ABE93E009289}"/>
              </c:ext>
            </c:extLst>
          </c:dPt>
          <c:dPt>
            <c:idx val="5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6B-4478-AE89-ABE93E009289}"/>
              </c:ext>
            </c:extLst>
          </c:dPt>
          <c:dPt>
            <c:idx val="6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46B-4478-AE89-ABE93E009289}"/>
              </c:ext>
            </c:extLst>
          </c:dPt>
          <c:dPt>
            <c:idx val="7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46B-4478-AE89-ABE93E009289}"/>
              </c:ext>
            </c:extLst>
          </c:dPt>
          <c:dPt>
            <c:idx val="8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46B-4478-AE89-ABE93E009289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PICI</c:v>
                </c:pt>
                <c:pt idx="1">
                  <c:v>ODALYS CI</c:v>
                </c:pt>
                <c:pt idx="2">
                  <c:v>AB CENTER</c:v>
                </c:pt>
                <c:pt idx="3">
                  <c:v>RHD CI</c:v>
                </c:pt>
                <c:pt idx="4">
                  <c:v>IMMONEUF</c:v>
                </c:pt>
                <c:pt idx="5">
                  <c:v>RIVIERA</c:v>
                </c:pt>
                <c:pt idx="6">
                  <c:v>FIRST</c:v>
                </c:pt>
                <c:pt idx="7">
                  <c:v>FINAFRICA</c:v>
                </c:pt>
                <c:pt idx="8">
                  <c:v>TERASSON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-3.5</c:v>
                </c:pt>
                <c:pt idx="2">
                  <c:v>-6.3</c:v>
                </c:pt>
                <c:pt idx="3">
                  <c:v>-50</c:v>
                </c:pt>
                <c:pt idx="4">
                  <c:v>-66</c:v>
                </c:pt>
                <c:pt idx="5">
                  <c:v>-87.3</c:v>
                </c:pt>
                <c:pt idx="6">
                  <c:v>-175.3</c:v>
                </c:pt>
                <c:pt idx="7">
                  <c:v>-198.7</c:v>
                </c:pt>
                <c:pt idx="8">
                  <c:v>-206.4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46B-4478-AE89-ABE93E0092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-27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002C50"/>
                </a:solidFill>
                <a:latin typeface="Calibri"/>
              </a:rPr>
              <a:t>Trésorerie dédiée et besoin cumulé (MFCFA)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Trésorerie dédiée</c:v>
                </c:pt>
              </c:strCache>
            </c:strRef>
          </c:tx>
          <c:spPr>
            <a:solidFill>
              <a:srgbClr val="002C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1482</c:v>
                </c:pt>
                <c:pt idx="1">
                  <c:v>2643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B4-4465-8B11-1A52AB564D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Besoin cumulé fin sept.</c:v>
                </c:pt>
              </c:strCache>
            </c:strRef>
          </c:tx>
          <c:spPr>
            <a:solidFill>
              <a:srgbClr val="E8B4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2082</c:v>
                </c:pt>
                <c:pt idx="1">
                  <c:v>1885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B4-4465-8B11-1A52AB564D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Besoin cumulé fin oct.</c:v>
                </c:pt>
              </c:strCache>
            </c:strRef>
          </c:tx>
          <c:spPr>
            <a:solidFill>
              <a:srgbClr val="D073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2572</c:v>
                </c:pt>
                <c:pt idx="1">
                  <c:v>3153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B4-4465-8B11-1A52AB564D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Besoin cumulé fin nov.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3810</c:v>
                </c:pt>
                <c:pt idx="1">
                  <c:v>3608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B4-4465-8B11-1A52AB564D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31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Couverture. Position de trésorerie au 30/09/2026 ; échéancier de l'audit des décaissements du 30/09/2026 (v10). Présentation générée automatiquement à partir des fichiers Excel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Besoins = RECAP </a:t>
            </a:r>
            <a:r>
              <a:rPr lang="en-US" dirty="0" err="1"/>
              <a:t>semaine</a:t>
            </a:r>
            <a:r>
              <a:rPr lang="en-US" dirty="0"/>
              <a:t> hors intragroupe (Semaines 1 à 4). Fournisseurs échus = balance âgée (total – non échu), qui correspond à l'échéancier de la Semaine 1. Impôts et cotisations = somme des lignes de détail du recap. Remboursement de prêts = intérêts + capital emprunté, hors prêts rattachés aux projets (voir projets).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Fournisseurs échus = balance âgée (total – non échu), hors intragroupe ; Top 10 par entité = 10 plus gros échus de l'entité (« Autres » = reste). Impôts et cotisations = Semaine 1 de l'audit, qui reporte les arriérés dans la </a:t>
            </a:r>
            <a:r>
              <a:rPr lang="en-US" dirty="0" err="1"/>
              <a:t>semaine</a:t>
            </a:r>
            <a:r>
              <a:rPr lang="en-US" dirty="0"/>
              <a:t> d'analyse. Salaires et remboursements de prêts pris sur Semaines 1 à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classés « Dédié besoin de fonctionnement » dans la position CI au 30/09/2026 ; fonds à destination non tranchée non comptés (BNI-RIVIERA(Courant) 1 772,0 M). Position = trésorerie + loyers – besoin, sans compensation entre entités. Loyers FIRST = colonne octobre 2026 de l'état prévisionnel des encaissements, hors loyers déjà encaissés (SIEMENS 6,1 M) ; les loyers antérieurs sont supposés déjà encaissés dans les soldes. Dates d'encaissement non précisées dans l'état : à confirmer pour le phasage.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de calcul : feuille « Marchés et Dépenses HT » de chaque bilan financier (b7d831c0-2026-10-02_Village_notre_p_re_Bilan_financier.xlsm ; 3f5ff12c-2026-10-02_RIVIERA_Bilan_financier.xlsm), ligne TOTAL et sections, colonnes septembre à novembre 2026. Montants en € HT convertis à 655,957 FCFA / €. Ce sont les montants communiqués par la Direction de programme (Village Notre Père 5 808 K€ HT, Riviera Park 5 501 K€ HT). Frais financiers = section FFI (intérêts sur compte courant, produits financiers, frais intercalaires, commissions d'engagement, coupons). Les remboursements de prêts TERASSON / RIVIERA du recap ne sont pas ajoutés (déjà couverts par cette section) et restent hors fonctionnement.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06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de la feuille « Marchés et Dépenses HT » des bilans financiers, classées par montant HT cumulé sur septembre à novembre 2026. Les lignes négatives (exonérations douanières, produits financiers) sont comprises dans « Autres lignes ». Montants convertis à 655,957 FCFA /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« Dédié paiement CPI » de la position CI au 30/09/2026. Besoin cumulé = total mensuel HT des cash plans (« Marchés et Dépenses HT »), converti à 655,957 FCFA / €, cumulé depuis septembre ; la TVA, réglée en TTC, n'est pas comprise. Aucune compensation entre projets. Les autres fonds (DSRA, comptes courants à destination non tranchée) ne sont pas comptés.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RCI – TRÉSORERIE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financement : fonctionnement et projets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au 30/09/2026 – </a:t>
            </a:r>
            <a:r>
              <a:rPr lang="en-US" sz="1400" dirty="0" err="1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échéancier</a:t>
            </a:r>
            <a:r>
              <a:rPr lang="en-US" sz="14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Semaine 1 à Semaine 4 (28/09 → 25/10/2026)</a:t>
            </a:r>
            <a:br>
              <a:rPr lang="en-US" sz="15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i="1" baseline="300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SCO &amp; INFI</a:t>
            </a:r>
            <a:endParaRPr lang="en-US" sz="1500" i="1" baseline="30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&amp; Financement – Groupe Duval Afrique  |  Octobre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trésorerie au 30/09/2026 – fonctionnement : échéancier Semaine 1 à Semaine 4 ; projets : cash plans septembre à novembre 2026 – montants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Besoin de financement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charges de structure et charges courantes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des besoins par entité (codes urgence)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7724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10 des urgences fournisseurs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77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disponible dédiée au fonctionnement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généraux, charges fiscales et sociales, salaires, remboursement de prêts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Point projets en cours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plans septembre à novembre 2026, trésorerie dédiée CPI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5836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trésorerie par projet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658368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8 des postes par projet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58368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et couverture mensuelle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et Riviera Park (RIVIERA)</a:t>
            </a:r>
            <a:endParaRPr lang="en-US" sz="105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1. Situation par entité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 structure et charges courantes, Semaine 1 à Semaine 4 (28/09 → 25/10/2026 ; Semaine 1 : 28/09 → 04/10)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1 568,4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Semaine 1 à Semaine 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1 227,9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régler dès Semaine 1 (échu +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cours)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875,3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Impôts, cotisations et salaires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45292"/>
              </p:ext>
            </p:extLst>
          </p:nvPr>
        </p:nvGraphicFramePr>
        <p:xfrm>
          <a:off x="457200" y="2286000"/>
          <a:ext cx="11274552" cy="2468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échus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à échoir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Remboursement de prêts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Semaines 1 à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dont à régler en Semaine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1 227,9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91947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731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0" y="4919472"/>
            <a:ext cx="201168" cy="146304"/>
          </a:xfrm>
          <a:prstGeom prst="rect">
            <a:avLst/>
          </a:prstGeom>
          <a:solidFill>
            <a:srgbClr val="FBEBD0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3017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Salaires, cotisations et impôts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03520" y="4919472"/>
            <a:ext cx="201168" cy="146304"/>
          </a:xfrm>
          <a:prstGeom prst="rect">
            <a:avLst/>
          </a:prstGeom>
          <a:solidFill>
            <a:srgbClr val="D6E2EE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557784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 de prêts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230368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concentrée sur FIRST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448,1 M de remboursements de prêts (29 % du besoin total), dont 129,6 M couverts par les loyers à encaisser.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Échu fournisseurs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 M sur FINAFRICA et 43,8 M sur PICI, soit 65 % des 141,2 M échus.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(254,9 M), PICI (218,5 M), FINAFRICA (136,1 M) portent l'essentiel (77 % de 789,5 M) ; les salaires (85,8 M) tombent en Semaine 4.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financiers des prêts de TERASSON et RIVIERA (220,4 M) rattachés aux projets : voir slide 6. Hors droits d'enregistrement (1 715,3 M, essentiellement TERASSON et RIVIERA) et hors intragroupe.</a:t>
            </a:r>
            <a:endParaRPr lang="en-US" sz="9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2. Top 10 des urgences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par entité : fournisseurs échus, impôts et cotisations échus, salaires et remboursements de prêts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par entité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682568"/>
              </p:ext>
            </p:extLst>
          </p:nvPr>
        </p:nvGraphicFramePr>
        <p:xfrm>
          <a:off x="457200" y="1600200"/>
          <a:ext cx="6492240" cy="3218688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</a:t>
                      </a: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échus</a:t>
                      </a: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fourn.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 échues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Rembours. de prêts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urgences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1 412,5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178040" y="128016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 fournisseurs échus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00200"/>
          <a:ext cx="4553712" cy="329184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61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Yapo Koyo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C2A Conseil Associés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SODECI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MONDON CONSEIL INTERNATIONAL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Forvis Mazars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J-L Ruelle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: 1 412,5 M.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(469,6 M, dont 448,1 M de prêts) et PICI (271,2 M) concentrent 52 % du total. Les loyers FIRST à encaisser (129,6 M) couvrent 29 % de ses 448,1 M d'échéances de prêts Stanbic, soit 191,7 M FCFA + 391,0 K€ (intérêts 73,3 K€ et capital 2 × 158,9 K€).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échus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M, dont 8 des 10 premières lignes ont plus de 61 jours ; Me Yapo Koyo (19,8 M, 4 entités), LOXEA (18,4 M, 2 entités) et C2A Conseil Associés (13,6 M, 2 entités) se retrouvent sur plusieurs entités.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échoir, à surveiller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– Redevance Diaby 42,5 M (Semaine 2) et Visuel 17,7 M (Semaine 3).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échus = montants de la Semaine 1 (arriérés et </a:t>
            </a:r>
            <a:r>
              <a:rPr lang="en-US" sz="9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cours) ; salaires et remboursements de prêts = Semaines 1 à 4. Hors intragroupe et hors droits d'enregistrement.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5608" y="91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3. Trésorerie disponible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au 30/09/2026 et loyers FIRST à encaisser, comparés aux besoins Semaine 1 à Semaine 4 – MFCFA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308662"/>
              </p:ext>
            </p:extLst>
          </p:nvPr>
        </p:nvGraphicFramePr>
        <p:xfrm>
          <a:off x="457200" y="1325880"/>
          <a:ext cx="6126480" cy="31775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Semaines 1-4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Loyers à encaisser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Semaines 1-4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Semaine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-693,5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812280" y="1234440"/>
          <a:ext cx="49377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2"/>
          <p:cNvSpPr/>
          <p:nvPr/>
        </p:nvSpPr>
        <p:spPr>
          <a:xfrm>
            <a:off x="457199" y="5120640"/>
            <a:ext cx="3023235" cy="1005840"/>
          </a:xfrm>
          <a:prstGeom prst="roundRect">
            <a:avLst>
              <a:gd name="adj" fmla="val 7273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 txBox="1"/>
          <p:nvPr/>
        </p:nvSpPr>
        <p:spPr>
          <a:xfrm>
            <a:off x="56692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+100,0 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Excédent PICI après paiements urgents (compte ECOBANK PICI : 370 M)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558539" y="5120640"/>
            <a:ext cx="3023235" cy="1005840"/>
          </a:xfrm>
          <a:prstGeom prst="roundRect">
            <a:avLst>
              <a:gd name="adj" fmla="val 7273"/>
            </a:avLst>
          </a:prstGeom>
          <a:solidFill>
            <a:srgbClr val="F7E7E5"/>
          </a:solidFill>
          <a:ln w="12700">
            <a:solidFill>
              <a:srgbClr val="F7E7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 txBox="1"/>
          <p:nvPr/>
        </p:nvSpPr>
        <p:spPr>
          <a:xfrm>
            <a:off x="368731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-793,5 M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8731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cumulés, 8 entités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949440" y="43434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 FIRST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129,6 M à encaisser en octobre (DC/BR 40,1 ; JESA 37,7 ; LOG IVOIRE 20,0 ; ITOCHU 18,9 ; SBS 6,9 ; M&amp;H 6,0), affectés au service de la dette. Les loyers de septembre et ceux déjà réglés (SIEMENS) sont déjà en trésorerie.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compté 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638,3 M d'impayés antérieurs (État 524,0 ; LOG IVOIRE 73,2 ; GMK 37,3, bail résilié) et le loyer annuel de l'État (349,7 M) attendu en novembre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 réserve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pris en compte dans ce niveau de trésorerie.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PICI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paiements urgents détaillés en slide 4 (cotisations sociales, fiscalité, salaires, fournisseurs échus : SODECI, LOXEA, Cabinet J-L Ruelle…)</a:t>
            </a: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projets en cours – 1. Besoins de trésorerie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plans de la Direction de programme (bilans financiers du 02/10/2026), septembre à novembre 2026 -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7 418,4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projets septembre à novembre 2026 (11 309 K€ HT)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3 810,1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: 5 808 K€ 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3 608,3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(RIVIERA) : 5 501 K€ 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791,0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frais financiers (hors 823,6 M de frais de due diligence)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199519"/>
              </p:ext>
            </p:extLst>
          </p:nvPr>
        </p:nvGraphicFramePr>
        <p:xfrm>
          <a:off x="457200" y="2286000"/>
          <a:ext cx="11274552" cy="246888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 (TERASSON)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 (RIVIERA)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(MFCFA)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Echu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Echu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1 911,3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1 641,7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2 892,8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4 804,1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de Due Diligence &amp; </a:t>
                      </a:r>
                      <a:r>
                        <a:rPr lang="en-US" sz="950" b="1" dirty="0" err="1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 de vente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218,9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358,2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336,8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432,8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791,0</a:t>
                      </a: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7 418,4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K€ 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3 173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5 808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11 309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864608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3 810,1 M, dont 1 911,3 M de travaux (50 %) ; premier poste : Gros œuvre &amp; installation de chantier 1 165,2 M ; pic en septembre (2 081,5 M).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3 608,3 M, dont 2 892,8 M de travaux (80 %) ; premier poste : Gros oeuvre 1 455,9 M ; pic en septembre (1 885,3 </a:t>
            </a:r>
            <a:r>
              <a:rPr lang="en-US" sz="10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M).</a:t>
            </a:r>
            <a:endParaRPr lang="en-US" sz="10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projets en cours – 2. Top 8 des postes par projet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du cash plan les plus lourdes sur septembre à novembre 2026 (montants HT)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Village Notre Père · 3 810,1 M sur 3 mois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645920"/>
          <a:ext cx="5227608" cy="296265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6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œuvre &amp; installation de </a:t>
                      </a:r>
                      <a:r>
                        <a:rPr lang="en-US" sz="850" b="1" dirty="0" err="1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1 165,2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de “Due Diligence”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FF&amp;E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 /SSI /GTB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de concours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Serrurerie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 / MOE / SSI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1 747,6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847,1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2 988,0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822,1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99632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Riviera Park · 3 608,3 M sur 3 mois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6199632" y="1645920"/>
          <a:ext cx="5325259" cy="296265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1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4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oeuvre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1 455,9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Charpente metallique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 - Espaces verts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- Courants forts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 &amp; Bardage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Plomberie RIA - 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Fondations spéciales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Climatisation &amp; Ventilation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1 433,8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2 780,2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-76,3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828,1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94690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8 représente 78 % du besoin (2 988,0 M) ; Gros œuvre &amp; installation de chantier 1 165,2 M, Frais de Due Diligence 823,6 M et FF&amp;E RT 235,3 M.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8 représente 77 % du besoin (2 780,2 M) ; Gros oeuvre 1 455,9 M, Charpente metallique 325,9 M et VRD - Espaces verts 308,4 M.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5A99AF2-DE75-A669-1928-2AF2B6404333}"/>
              </a:ext>
            </a:extLst>
          </p:cNvPr>
          <p:cNvSpPr txBox="1"/>
          <p:nvPr/>
        </p:nvSpPr>
        <p:spPr>
          <a:xfrm>
            <a:off x="457200" y="5504457"/>
            <a:ext cx="6094562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85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« Due Diligence » : </a:t>
            </a:r>
            <a:r>
              <a:rPr lang="en-US" sz="850" b="1" i="1" dirty="0" err="1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Hypothèque</a:t>
            </a:r>
            <a:r>
              <a:rPr lang="en-US" sz="85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850" b="1" i="1" dirty="0" err="1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Honoraire</a:t>
            </a:r>
            <a:r>
              <a:rPr lang="en-US" sz="85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Avocat</a:t>
            </a:r>
          </a:p>
          <a:p>
            <a:endParaRPr lang="en-US" sz="850" dirty="0"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buNone/>
            </a:pPr>
            <a:endParaRPr lang="en-US" sz="850" dirty="0">
              <a:latin typeface="Calibri" charset="0"/>
              <a:ea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projets en cours – 3. Trésorerie et couverture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CPI au 30/09/2026 comparés au besoin cumulé des cash plans, septembre à novembre 2026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4 125,0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projets (CPI)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7 418,4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cumulé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novembre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-3 293,3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fin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(sans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compte des fonds de réserve)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mois où la trésorerie dédiée est épuisée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7040880" cy="17099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fin nov.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BNI-TERASSON / Fonds proj…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2 571,6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-2 328,2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BNI-PICI / Fonds projet 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3 153,2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-965,2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4 125,0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3 966,8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5 724,8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7 418,4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-3 293,3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09651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731520" y="4069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cumulé &gt; trésorerie dédiée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374070"/>
              </p:ext>
            </p:extLst>
          </p:nvPr>
        </p:nvGraphicFramePr>
        <p:xfrm>
          <a:off x="457200" y="4379976"/>
          <a:ext cx="7040880" cy="685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fonds des entités projets (non comptés)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(position)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BNI-RIVIERA(Courant)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à placer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1 772,0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BNI-RIVIERA(DSRA) / Placement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 / Augmentation / LL / Disbursement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776,1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Chart 0"/>
          <p:cNvGraphicFramePr/>
          <p:nvPr/>
        </p:nvGraphicFramePr>
        <p:xfrm>
          <a:off x="7726680" y="219456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1 481,9 M épuisée en septembre (besoin du mois 2 081,5 M) ; 2 328,2 M à financer d'ici fin novembre.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2 643,1 M épuisée en octobre (besoin cumulé 3 153,2 M) ; 965,2 M à financer d'ici fin </a:t>
            </a:r>
            <a:r>
              <a:rPr lang="en-US" sz="105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4281</TotalTime>
  <Words>2576</Words>
  <Application>Microsoft Office PowerPoint</Application>
  <PresentationFormat>Grand écran</PresentationFormat>
  <Paragraphs>691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Sociétés RCI – Besoins de financement : fonctionnement et projets</dc:title>
  <dc:subject>PptxGenJS Presentation</dc:subject>
  <dc:creator>KOUADIO Ange</dc:creator>
  <cp:lastModifiedBy>KOUADIO Ange</cp:lastModifiedBy>
  <cp:revision>5</cp:revision>
  <dcterms:created xsi:type="dcterms:W3CDTF">2026-10-02T15:33:31Z</dcterms:created>
  <dcterms:modified xsi:type="dcterms:W3CDTF">2026-10-05T16:16:09Z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33f31a-a91f-4b93-bbcd-5ddf027d1ae6_Enabled">
    <vt:lpwstr>true</vt:lpwstr>
  </property>
  <property fmtid="{D5CDD505-2E9C-101B-9397-08002B2CF9AE}" pid="3" name="MSIP_Label_4333f31a-a91f-4b93-bbcd-5ddf027d1ae6_SetDate">
    <vt:lpwstr>2026-10-02T15:52:49Z</vt:lpwstr>
  </property>
  <property fmtid="{D5CDD505-2E9C-101B-9397-08002B2CF9AE}" pid="4" name="MSIP_Label_4333f31a-a91f-4b93-bbcd-5ddf027d1ae6_Method">
    <vt:lpwstr>Standard</vt:lpwstr>
  </property>
  <property fmtid="{D5CDD505-2E9C-101B-9397-08002B2CF9AE}" pid="5" name="MSIP_Label_4333f31a-a91f-4b93-bbcd-5ddf027d1ae6_Name">
    <vt:lpwstr>C0</vt:lpwstr>
  </property>
  <property fmtid="{D5CDD505-2E9C-101B-9397-08002B2CF9AE}" pid="6" name="MSIP_Label_4333f31a-a91f-4b93-bbcd-5ddf027d1ae6_SiteId">
    <vt:lpwstr>f7e1e464-7e4d-4e93-9f42-de95ee7dcd32</vt:lpwstr>
  </property>
  <property fmtid="{D5CDD505-2E9C-101B-9397-08002B2CF9AE}" pid="7" name="MSIP_Label_4333f31a-a91f-4b93-bbcd-5ddf027d1ae6_ActionId">
    <vt:lpwstr>3560635f-d622-494a-9bdb-341daa3464b3</vt:lpwstr>
  </property>
  <property fmtid="{D5CDD505-2E9C-101B-9397-08002B2CF9AE}" pid="8" name="MSIP_Label_4333f31a-a91f-4b93-bbcd-5ddf027d1ae6_ContentBits">
    <vt:lpwstr>0</vt:lpwstr>
  </property>
  <property fmtid="{D5CDD505-2E9C-101B-9397-08002B2CF9AE}" pid="9" name="MSIP_Label_4333f31a-a91f-4b93-bbcd-5ddf027d1ae6_Tag">
    <vt:lpwstr>10, 3, 0, 1</vt:lpwstr>
  </property>
</Properties>
</file>