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C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0"/>
            <a:ext cx="48737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3716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RCI – TRÉSORERIE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28800"/>
            <a:ext cx="6309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de trésorerie et comptes de paiement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8404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au 30/09/2026 – échéancier S1 à S5 (05/10 → 08/11/2026)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9436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Trésorerie &amp; Financement – Groupe Duval Afrique  |  Octobre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de trésorerie au 30/09/2026 – échéancier S1 à S5 (05/10 → 08/11/2026), antériorités en S1 – montants en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68112" cy="4480560"/>
          </a:xfrm>
          <a:prstGeom prst="roundRect">
            <a:avLst>
              <a:gd name="adj" fmla="val 204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Besoin de trésorerie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762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Fonctionnement, projets et dette, par semaine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" y="2788920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889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par semaine et déficits à couvrir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00016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6 974,1 M à payer de S1 à S5, dont 5 115,2 M dès S1 ; 2 530,3 M de déficits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4315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Fournisseurs, impôts, cotisations, salaires et échéances de prêts des sociétés ; cash plans des projets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63640" y="1463040"/>
            <a:ext cx="5468112" cy="4480560"/>
          </a:xfrm>
          <a:prstGeom prst="roundRect">
            <a:avLst>
              <a:gd name="adj" fmla="val 204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1762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bancaires mobilisables au 30/09/2026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83680" y="2788920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27889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de paiement par entité et nature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583680" y="3410712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0" y="3410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178040" y="3410712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de couverture et décisions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0" y="4032504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0" y="4032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4032504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Équilibrage S1 : virements et reste à financer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0" y="4700016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des déficits : crédit spot, avances intragroupe ou comptes à arbitrer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0" y="54315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« Dédié besoin de fonctionnement » des sociétés et comptes « Dédié paiement CPI » des projets ; comptes indisponibles exclus</a:t>
            </a:r>
            <a:endParaRPr lang="en-US" sz="10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Besoin de trésorerie – Besoin par semaine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Soldes au 30/09/2026, échéancier S1 à S5 (05/10 → 08/11/2026), antériorités reportées en S1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6 974,1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S1 à S5 (10,6 M€) : fonctionnement, projets et dette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5 115,2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régler dès S1 (antériorités incluses), 73 % du besoin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6 045,8 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au 30/09 ; 76,3 M bloqués, 1 772,0 M à arbitrer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-1 425,0 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fin S5 – comptes de sociétés ; comptes dédiés +745,6 M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11274552" cy="914400"/>
        </p:xfrm>
        <a:graphic>
          <a:graphicData uri="http://schemas.openxmlformats.org/drawingml/2006/table">
            <a:tbl>
              <a:tblPr/>
              <a:tblGrid>
                <a:gridCol w="2770632"/>
                <a:gridCol w="914400"/>
                <a:gridCol w="914400"/>
                <a:gridCol w="822960"/>
                <a:gridCol w="822960"/>
                <a:gridCol w="822960"/>
                <a:gridCol w="1188720"/>
                <a:gridCol w="1737360"/>
                <a:gridCol w="1280160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Décaissements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05/10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 12/10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 19/10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 26/10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 02/11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S1 à S5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 payeurs au 30/09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Déficit fin S5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Fonctionnement des sociétés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1 320,1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1 746,4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1 427,7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 RIVIERA (cash plan)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1 988,4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1 242,5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3 244,5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601,4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 TERASSON (cash plan)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1 806,7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1 983,2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501,3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des décaissements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5 115,2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1 492,4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6 974,1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4 197,6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2 530,3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Encaissements prévus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 gridSpan="9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Besoin (–) ou surplus (+) de trésorerie – soldes théoriques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 de sociétés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-1 232,8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-1 144,6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-1 333,5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-1 360,6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-1 425,0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dont PICI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-571,0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-580,3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-604,7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-604,7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-604,7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dont FIRST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-171,8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 dédiés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+2 178,2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+772,7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+772,7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+745,6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+745,6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dont RIVIERA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+2 426,7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+1 184,2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+1 184,2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+1 170,6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+1 170,6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dont TERASSON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-324,8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-487,8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-487,8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457200" y="5262372"/>
            <a:ext cx="11247120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: </a:t>
            </a:r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5 227,7 M. RIVIERA en déficit de 601,4 M dès S2 ; TERASSON en déficit de 501,3 M dès S1.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: </a:t>
            </a:r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PICI 604,7 M, TERASSON 206,4 M, FINAFRICA 198,7 M, FIRST 175,3 M, RIVIERA 87,3 M, IMMONEUF 66,0 M ; excédents INFI SOFT 2,8 M.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144768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Mises à jour : paiements exécutés 704,7 M (TGCC, HORECAF), dont 704,7 M imputés sur le besoin. Hors position (indisponibles) : 1 195,6 M. Non mobilisables : BACI-AGORA/COMPTE BLOQU. TVA 76,3. À arbitrer : BNI-RIVIERA(Courant) 1 772,0. Projets en € HT à 655,957.</a:t>
            </a:r>
            <a:endParaRPr lang="en-US" sz="95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1. Comptes de paiement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 payeur par entité et nature d'opération, trésorerie au 30/09/2026 et solde théorique fin S5 – MFCFA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886200"/>
                <a:gridCol w="960120"/>
                <a:gridCol w="2926080"/>
                <a:gridCol w="960120"/>
                <a:gridCol w="9418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Nature d'opération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 S1 à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payeur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Trésorerie 30/09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fin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56,8 · impôts 167,4 · cotisations 51,1 · salaires 21,3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STANBIC-PICI, puis SOCIETE GENERALE-PICI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-308,1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-604,7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9,7 · impôts 254,9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GENERALE-TERASSON, puis ECOBANK -TERASSON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59,2 · impôts 75,0 · cotisations 61,1 · salaires 38,5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GENERALE-FINAFRICA, puis ECOBANK-FINAFRICA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91,3 · impôts 1,6 · prêts 448,1 · encaissements −129,6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541,0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STANBIC-FIRST, puis SOCIETE GENERALE-FIRST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17,6 · impôts 70,8 · cotisations 0,3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6,2 · impôts 17,1 · cotisations 28,4 · salaires 26,0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GENERALE-IMMONEUF, puis BACI - 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Impôts 38,9 · cotisations 11,1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Aucun compte : paiement pour son compte par une autre société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145,7 · impôts 17,1 · cotisations 3,6 · salaires 11,6 · encaissements −119,4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BACI-Projet, puis BACI-CompteCourant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2,5 · impôts 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ECOBANK- 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1,6 · impôts 8,0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GENERALE-ODALYS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–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Travaux 2 492,7 · Frais financiers 524,1 · Honoraires 163,6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3 244,5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BNI-PICI / Fonds projet 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 –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Autres dépenses 836,7 · Travaux 686,7 · Honoraires 232,3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1 983,2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BNI-TERASSON / Fonds projet NP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029200"/>
            <a:ext cx="201168" cy="146304"/>
          </a:xfrm>
          <a:prstGeom prst="rect">
            <a:avLst/>
          </a:prstGeom>
          <a:solidFill>
            <a:srgbClr val="E6F0EA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50017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autofinancées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834640" y="5029200"/>
            <a:ext cx="201168" cy="146304"/>
          </a:xfrm>
          <a:prstGeom prst="rect">
            <a:avLst/>
          </a:prstGeom>
          <a:solidFill>
            <a:srgbClr val="F7E7E5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108960" y="50017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en déficit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212080" y="5029200"/>
            <a:ext cx="201168" cy="146304"/>
          </a:xfrm>
          <a:prstGeom prst="rect">
            <a:avLst/>
          </a:prstGeom>
          <a:solidFill>
            <a:srgbClr val="EEF2F6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50017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et dette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23951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: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société paie depuis ses comptes « Dédié besoin de fonctionnement », impôts et cotisations en premier ; chaque projet paie depuis son compte « Dédié paiement CPI » ; les échéances de prêts FIRST sont payées en fonctionnement ; les comptes indisponibles sont exclus.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26364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 fin S5 = trésorerie au 30/09 + flux prévus de S1 à S5 (encaissements compris).</a:t>
            </a:r>
            <a:endParaRPr lang="en-US" sz="9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2. Options de couverture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à couvrir d'ici S5 : 2 530,3 M – MFCFA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7607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68680"/>
                <a:gridCol w="2194560"/>
                <a:gridCol w="59436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Déficit à couvrir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Dès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604,7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– fonds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à arbitrer (C) ou prêts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 – fonds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à arbitrer (C) ou prêts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2 530,3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46520" y="1325880"/>
            <a:ext cx="5285232" cy="1508760"/>
          </a:xfrm>
          <a:prstGeom prst="rect">
            <a:avLst/>
          </a:prstGeom>
          <a:solidFill>
            <a:srgbClr val="E6F0EA"/>
          </a:solidFill>
          <a:ln w="12700">
            <a:solidFill>
              <a:srgbClr val="E6F0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629400" y="14173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– Crédit spot bancaire, par société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0058400" y="139903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1 427,7 M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629400" y="1764792"/>
            <a:ext cx="493776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dossier par société en déficit (10), tiré par tranche : 1 256,8 M pour S1, le solde à l'échéance. Remboursement à la mise en place des financements.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2971800"/>
            <a:ext cx="5285232" cy="146304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29400" y="30632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– Avances intragroupe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304495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 M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629400" y="3410712"/>
            <a:ext cx="4937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Excédents en fin S5 : INFI SOFT 2,8 M. Ils couvriraient 0 % des déficits des sociétés, avec conventions de compte courant.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46520" y="4572000"/>
            <a:ext cx="5285232" cy="169164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29400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– Projets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0" y="464515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1 102,6 M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629400" y="5010912"/>
            <a:ext cx="4937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à arbitrer : BNI-RIVIERA(Courant) 1 772,0 M ; affectés aux projets, ils couvriraient 100 % du déficit. À défaut : tirage des prêts des projets ou apport des actionnaires.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5111496"/>
            <a:ext cx="5760720" cy="1197864"/>
          </a:xfrm>
          <a:prstGeom prst="rect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53949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Décisions attendues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la solution des sociétés en déficit (1 427,7 M) : crédit spot, avances intragroupe ou combinaison.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Trancher l'affectation de BNI-RIVIERA(Courant) (1 772,0 M) : elle conditionne l'option C.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 les encaissements prévus (248,9 M), dont SUD CONSTRUCTION – BCEAO (En attente … relance à effectuer).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 les loyers de octobre 2026 (129,6 M), encaissés en fonctionnement de FIRST.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Revoir les 25 lignes non retenues du reporting (intragroupe, droits d'enregistrement, loyers encaissés).</a:t>
            </a:r>
            <a:endParaRPr lang="en-US" sz="13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3. Équilibrage S1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du 05/10 au 11/10/2026 : flux à payer, virements et reste à financer par compte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5 100,4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payer en S1 (fonctionnement, projets, échéances)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5 969,5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Soldes au 30/09 des comptes payeurs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500,0 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virement(s) de nivellement saisi(s)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1 509,2 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Reste à financer en S1 après virements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12848"/>
          <a:ext cx="690372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896112"/>
                <a:gridCol w="896112"/>
                <a:gridCol w="896112"/>
                <a:gridCol w="896112"/>
                <a:gridCol w="896112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 / compte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30/09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Flux S1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Virements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théorique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Reste à financer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 – projet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-1 806,7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-324,8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324,8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-264,6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-206,4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-308,1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-571,0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574,6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SCI FIRST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-407,9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-171,8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 – projet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-1 988,4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654,7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 – BNI courant (à arbitrer)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1 772,0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-500,0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1 272,0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-88,5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412,9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-140,1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5 969,5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-5 100,4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869,1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1 509,2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7589520" y="2212848"/>
            <a:ext cx="4142232" cy="187452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54112" y="2286000"/>
            <a:ext cx="38679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Virements saisis</a:t>
            </a:r>
            <a:endParaRPr lang="en-US" sz="1200" dirty="0"/>
          </a:p>
          <a:p>
            <a:pPr marL="127000" indent="-127000">
              <a:buSzPct val="100000"/>
              <a:buChar char="•"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RIVIERA PARK – BNI courant → RIVIERA PARK – SG : 500,0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589520" y="4206240"/>
            <a:ext cx="4142232" cy="2103120"/>
          </a:xfrm>
          <a:prstGeom prst="rect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54112" y="4297680"/>
            <a:ext cx="38679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Décisions attendues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les 1 virements saisis (500,0 M).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Financer le reste de 1 509,2 M, dont PICI – ECO 336,4, TERASSON – BNI fonds projet 324,8, PICI – STB 238,1.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Prioriser impôts, cotisations et salaires si le financement est partiel.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382512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Reste à financer = somme des soldes théoriques négatifs, compte par compte (détail dans l'onglet « Équilibrage S1 » du reporting).</a:t>
            </a:r>
            <a:endParaRPr lang="en-US" sz="95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Sociétés RCI – Besoins de trésorerie et comptes de paiement</dc:title>
  <dc:subject>PptxGenJS Presentation</dc:subject>
  <dc:creator>Direction Trésorerie &amp; Financement – Groupe Duval Afrique</dc:creator>
  <cp:lastModifiedBy>Direction Trésorerie &amp; Financement – Groupe Duval Afrique</cp:lastModifiedBy>
  <cp:revision>1</cp:revision>
  <dcterms:created xsi:type="dcterms:W3CDTF">2026-10-07T17:04:34Z</dcterms:created>
  <dcterms:modified xsi:type="dcterms:W3CDTF">2026-10-07T17:04:34Z</dcterms:modified>
</cp:coreProperties>
</file>