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 à payer de S1 à S5, dont 5 115,2 M dès S1 ; 1 925,7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cotisations, salaires et échéances de prêts des sociétés ; cash plans des projets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S1 : virements et reste à financer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 et comptes « Dédié paiement CPI » des projets ; comptes indisponibles exclus</a:t>
            </a:r>
            <a:endParaRPr lang="en-US" sz="10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6 974,1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(10,6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5 115,2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73 %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6 750,5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76,3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-720,3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fin S5 – comptes de sociétés ; comptes dédiés +745,6 M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1 320,1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1 746,4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1 806,7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5 115,2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1 492,4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6 974,1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4 902,2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1 925,7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 gridSpan="9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 (–) ou surplus (+) de trésorerie – soldes théoriques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de sociétés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-528,1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-439,9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-628,9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-655,9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-720,3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PICI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+133,7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+124,3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-71,1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dédiés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+2 178,2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+772,7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+745,6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RIVIERA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+2 426,7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+1 184,2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+1 170,6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dont TERASSON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-487,8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5262372"/>
            <a:ext cx="11247120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5 227,7 M. RIVIERA en déficit de 601,4 M dès S2 ; TERASSON en déficit de 501,3 M dès S1.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TERASSON 206,4 M, FINAFRICA 198,7 M, FIRST 175,3 M, RIVIERA 87,3 M, IMMONEUF 66,0 M, RHD CI 50,0 M ; excédents PICI 100,0 M, INFI SOFT 2,8 M.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Mises à jour : paiements exécutés 704,7 M (TGCC, HORECAF), dont 704,7 M imputés sur le besoin. Hors position (indisponibles) : 1 195,6 M. Non mobilisables :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ECOBANK-PICI, puis STANBIC-PICI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 · prêts 448,1 · encaissements −129,6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145,7 · impôts 17,1 · cotisations 3,6 · salaires 11,6 · encaissements −119,4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dépenses 836,7 · Travaux 686,7 · Honoraires 232,3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02920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02920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02920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0017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3951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FIRST sont payées en fonctionnement ; les comptes indisponibles sont exclus.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1 925,7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1 925,7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823,1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(9), tiré par tranche : 685,8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102,7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PICI 100,0 M, INFI SOFT 2,8 M. Ils couvriraient 12 %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1 102,6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100 %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850892"/>
            <a:ext cx="5760720" cy="1458468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942332"/>
            <a:ext cx="5394960" cy="1293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(823,1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(248,9 M), dont SUD CONSTRUCTION – BCEAO (En attente … relance à effectuer).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loyers de octobre 2026 (129,6 M), encaissés en fonctionnement de FIRST.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3. Équilibrage S1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du 05/10 au 11/10/2026 : flux à payer, virements et reste à financer par compte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5 100,4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payer en S1 (fonctionnement, projets, échéances)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6 674,2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 des comptes payeurs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virement(s) de nivellement saisi(s)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934,7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en S1 après virements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69037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96112"/>
                <a:gridCol w="896112"/>
                <a:gridCol w="896112"/>
                <a:gridCol w="896112"/>
                <a:gridCol w="896112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/ compte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30/09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 S1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théorique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financer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-1 806,7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-1 988,4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BNI courant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6 674,2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-5 100,4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1 573,8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589520" y="2212848"/>
            <a:ext cx="4142232" cy="18745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54112" y="2286000"/>
            <a:ext cx="3867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Virements saisis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9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– BNI courant → RIVIERA PARK – SG : 500,0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4206240"/>
            <a:ext cx="4142232" cy="210312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54112" y="4297680"/>
            <a:ext cx="38679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1 virements saisis (500,0 M).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Financer le reste de 934,7 M, dont TERASSON – BNI fonds projet 324,8, TERASSON – SG 206,4, SCI FIRST – STB 180,2.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impôts, cotisations et salaires si le financement est partiel.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382512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= somme des soldes théoriques négatifs, compte par compte (détail dans l'onglet « Équilibrage S1 » du reporting).</a:t>
            </a:r>
            <a:endParaRPr lang="en-US" sz="9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2026-10-07T17:53:01Z</dcterms:created>
  <dcterms:modified xsi:type="dcterms:W3CDTF">2026-10-07T17:53:01Z</dcterms:modified>
</cp:coreProperties>
</file>