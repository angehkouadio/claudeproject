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C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371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RCI – TRÉSORERIE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6309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Besoins de trésorerie et comptes de paiement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840480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au 30/09/2026 – échéancier S1 à S5 (05/10 → 08/11/2026)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Trésorerie &amp; Financement – Groupe Duval Afrique  |  Octobre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de trésorerie au 30/09/2026 – échéancier S1 à S5 (05/10 → 08/11/2026), antériorités en S1 – montants en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Fonctionnement, projets et dette, par semaine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par semaine et déficits à couvrir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0001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7 709,5 M à payer de S1 à S5, dont 5 672,4 M dès S1 ; 2 601,5 M de déficits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431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Fournisseurs, impôts, cotisations et salaires des sociétés ; cash plans des projets ; service de la dette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63640" y="1463040"/>
            <a:ext cx="5468112" cy="4480560"/>
          </a:xfrm>
          <a:prstGeom prst="roundRect">
            <a:avLst>
              <a:gd name="adj" fmla="val 204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176272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bancaires mobilisables au 30/09/2026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583680" y="2788920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2788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278892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de paiement par entité et nature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583680" y="3410712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0" y="34107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341071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 de couverture et décisions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583680" y="4032504"/>
            <a:ext cx="420624" cy="420624"/>
          </a:xfrm>
          <a:prstGeom prst="ellipse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0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403250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Équilibrage S1 : virements et reste à financer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0" y="4700016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Couverture des déficits : crédit spot, avances intragroupe ou comptes à arbitrer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54315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« Dédié besoin de fonctionnement » des sociétés, comptes « Dédié paiement CPI » des projets, service de la dette</a:t>
            </a:r>
            <a:endParaRPr lang="en-US" sz="105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Besoin de trésorerie – Besoin par semaine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30/09/2026, échéancier S1 à S5 (05/10 → 08/11/2026), antériorités reportées en S1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7 709,5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 S1 à S5 (11,8 M€) : fonctionnement, projets et dette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5 672,4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régler dès S1 (antériorités incluses), 74 % du besoin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7 946,1 M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Trésorerie au 30/09 ; 921,2 M bloqués, 1 772,0 M à arbitrer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96112"/>
          </a:xfrm>
          <a:prstGeom prst="roundRect">
            <a:avLst>
              <a:gd name="adj" fmla="val 8163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2 601,5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à couvrir : 2 projet(s) et 8 société(s)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11274552" cy="914400"/>
        </p:xfrm>
        <a:graphic>
          <a:graphicData uri="http://schemas.openxmlformats.org/drawingml/2006/table">
            <a:tbl>
              <a:tblPr/>
              <a:tblGrid>
                <a:gridCol w="2770632"/>
                <a:gridCol w="914400"/>
                <a:gridCol w="914400"/>
                <a:gridCol w="822960"/>
                <a:gridCol w="822960"/>
                <a:gridCol w="822960"/>
                <a:gridCol w="1188720"/>
                <a:gridCol w="17373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Décaissements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 05/10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 12/10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19/10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S4 26/10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S5 02/11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S1 à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Comptes payeurs au 30/09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fin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Fonctionnement des sociétés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1 137,9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1 329,0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RIVIERA (cash plan)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1 988,4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1 242,5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 TERASSON (cash plan)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2 202,1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2 687,8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Dette FIRST (service de la dette)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des décaissements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5 672,4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1 784,3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7 709,5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5 253,0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2 601,5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Encaissements prévus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57200" y="4434840"/>
            <a:ext cx="11247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concentre 74 % du besoin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factures échues et arriérés d'impôts et de cotisations de l'audit, semaine en cours, cash plans non réglés jusqu'au mois de la situation, échéance de la dette.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5 932,3 M. RIVIERA en déficit de 601,4 M dès S2 ; TERASSON en déficit de 1 205,9 M dès S1.</a:t>
            </a:r>
            <a:endParaRPr lang="en-US" sz="11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5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Fonctionnement : </a:t>
            </a:r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TERASSON 206,4 M, FINAFRICA 198,7 M, SCO AO 176,0 M, RIVIERA 87,3 M, IMMONEUF 66,0 M, RHD CI 50,0 M ; excédents FIRST 143,3 M, PICI 100,0 M, INFI SOFT 2,8 M.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144768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mobilisables : STANBIC-FIRST_LL 42,5, STANBIC-FIRST_Disbursement 26,3, BNI-RIVIERA(DSRA) / Placement 776,1, BACI-AGORA/COMPTE BLOQU. TVA 76,3. À arbitrer : BNI-RIVIERA(Courant) 1 772,0. Projets en € HT à 655,957.</a:t>
            </a:r>
            <a:endParaRPr lang="en-US" sz="95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1. Comptes de paiement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payeur par entité et nature d'opération, trésorerie au 30/09/2026 et solde théorique fin S5 – MFCFA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886200"/>
                <a:gridCol w="960120"/>
                <a:gridCol w="2926080"/>
                <a:gridCol w="960120"/>
                <a:gridCol w="9418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Nature d'opération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 S1 à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payeur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Trésorerie 30/09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fin S5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56,8 · impôts 167,4 · cotisations 51,1 · salaires 21,3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ECOBANK-PICI, puis STANBIC-PICI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91,3 · impôts 1,6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STANBIC-FIRST, puis SOCIETE GENERALE-FIRST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+143,3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9,7 · impôts 254,9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GENERALE-TERASSON, puis ECOBANK -TERASSON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59,2 · impôts 75,0 · cotisations 61,1 · salaires 38,5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GENERALE-FINAFRICA, puis ECOBANK-FINAFRICA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131,2 · impôts 21,7 · cotisations 16,6 · salaires 24,3 · autres 15,0 · encaissements −3,6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BACI-Projet, puis BACI-CompteCourant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17,6 · impôts 70,8 · cotisations 0,3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6,2 · impôts 17,1 · cotisations 28,4 · salaires 26,0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GENERALE-IMMONEUF, puis BACI - 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Impôts 38,9 · cotisations 11,1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Aucun compte : paiement pour son compte par une autre société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2,5 · impôts 3,8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ECOBANK- 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Fournisseurs 1,6 · impôts 8,0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SOCIETE GENERALE-ODALYS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2 492,7 · Frais financiers 524,1 · Honoraires 163,6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3 244,5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BNI-PICI / Fonds projet 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Travaux 1 388,7 · Autres dépenses 836,7 · Honoraires 235,0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2 687,8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BNI-TERASSON / Fonds projet NP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– dette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Échéances 448,1 · loyers +129,6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448,1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STANBIC-FIRST _ Debt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+32,2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303520"/>
            <a:ext cx="201168" cy="146304"/>
          </a:xfrm>
          <a:prstGeom prst="rect">
            <a:avLst/>
          </a:prstGeom>
          <a:solidFill>
            <a:srgbClr val="E6F0EA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52760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autofinancées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2834640" y="5303520"/>
            <a:ext cx="201168" cy="146304"/>
          </a:xfrm>
          <a:prstGeom prst="rect">
            <a:avLst/>
          </a:prstGeom>
          <a:solidFill>
            <a:srgbClr val="F7E7E5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108960" y="52760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Sociétés en déficit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212080" y="5303520"/>
            <a:ext cx="201168" cy="146304"/>
          </a:xfrm>
          <a:prstGeom prst="rect">
            <a:avLst/>
          </a:prstGeom>
          <a:solidFill>
            <a:srgbClr val="EEF2F6"/>
          </a:solidFill>
          <a:ln w="6350">
            <a:solidFill>
              <a:srgbClr val="D5DBE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0" y="5276088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et dette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513832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 : </a:t>
            </a:r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société paie depuis ses comptes « Dédié besoin de fonctionnement », impôts et cotisations en premier ; chaque projet paie depuis son compte « Dédié paiement CPI » ; les échéances de prêts passent par le compte de service de la dette.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6263640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 fin S5 = trésorerie au 30/09 + flux prévus de S1 à S5 (encaissements compris).</a:t>
            </a:r>
            <a:endParaRPr lang="en-US" sz="9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2. Options de couverture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Déficits à couvrir d'ici S5 : 2 601,5 M – MFCFA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68680"/>
                <a:gridCol w="2194560"/>
                <a:gridCol w="594360"/>
              </a:tblGrid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Déficit à couvrir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Montant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Dès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 (A) ou avance (B)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– fonds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601,4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à arbitrer (C) ou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fonds projet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1 205,9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Compte à arbitrer (C) ou prêts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2 601,5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46520" y="1325880"/>
            <a:ext cx="5285232" cy="1508760"/>
          </a:xfrm>
          <a:prstGeom prst="rect">
            <a:avLst/>
          </a:prstGeom>
          <a:solidFill>
            <a:srgbClr val="E6F0EA"/>
          </a:solidFill>
          <a:ln w="12700">
            <a:solidFill>
              <a:srgbClr val="E6F0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29400" y="141732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– Crédit spot bancaire, par société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0" y="139903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E9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794,2 M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629400" y="1764792"/>
            <a:ext cx="493776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 par société en déficit (8), tiré par tranche : 665,7 M pour S1, le solde à l'échéance. Remboursement à la mise en place des financements.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46520" y="2971800"/>
            <a:ext cx="5285232" cy="14630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29400" y="3063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– Avances intragroupe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0" y="30449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246,0 M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3410712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Excédents en fin S5 : FIRST 143,3 M, PICI 100,0 M, INFI SOFT 2,8 M. Ils couvriraient 31 % des déficits des sociétés, avec conventions de compte courant.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46520" y="4572000"/>
            <a:ext cx="5285232" cy="169164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29400" y="46634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– Projets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058400" y="4645152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1 807,3 M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629400" y="5010912"/>
            <a:ext cx="493776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à arbitrer : BNI-RIVIERA(Courant) 1 772,0 M ; affectés aux projets, ils couvriraient 98 % du déficit. À défaut : tirage des prêts des projets ou apport des actionnaires.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4590288"/>
            <a:ext cx="5760720" cy="1719072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" y="4681728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la solution des sociétés en déficit (794,2 M) : crédit spot, avances intragroupe ou combinaison.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Trancher l'affectation de BNI-RIVIERA(Courant) (1 772,0 M) : elle conditionne l'option C.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Confirmer les encaissements prévus (3,6 M), dont CLIENT.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Affecter les loyers de octobre 2026 (129,6 M) au service de la dette.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Revoir les 25 lignes non retenues du reporting (intragroupe, droits d'enregistrement, loyers encaissés).</a:t>
            </a:r>
            <a:endParaRPr lang="en-US" sz="13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Paiement – 3. Équilibrage S1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D8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du 05/10 au 11/10/2026 : flux à payer, virements et reste à financer par compte – MFCFA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5 668,8 M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payer en S1 (fonctionnement, projets, échéances)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19272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7 024,9 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Soldes au 30/09 des comptes payeurs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81344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8504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décider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318504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virement de nivellement saisi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043416" y="1234440"/>
            <a:ext cx="2679192" cy="822960"/>
          </a:xfrm>
          <a:prstGeom prst="roundRect">
            <a:avLst>
              <a:gd name="adj" fmla="val 8889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80576" y="1307592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1 387,3 M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180576" y="1746504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à financer en S1 avant nivellement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12848"/>
          <a:ext cx="6903720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896112"/>
                <a:gridCol w="896112"/>
                <a:gridCol w="896112"/>
                <a:gridCol w="896112"/>
                <a:gridCol w="896112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Entité / compte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30/09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Flux S1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Virements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Solde théorique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Reste à financer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 – projet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1 481,9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-2 202,1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-720,2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TERASSON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-264,6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-206,4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396,6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 FIRST – dette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-343,9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SCI FIRST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– projet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2 643,1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-1 988,4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 – BNI courant (à arbitrer)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1 772,0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1 772,0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RIVIERA PARK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-88,5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-87,1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 AO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-180,9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-151,7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IMMONEUF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FINAFRICA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-175,2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-140,1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5E9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ODALYS 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-9,6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 CENTER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RHD CI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7E5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7 024,9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-5 668,8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1 356,2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1 387,3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C50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7589520" y="2212848"/>
            <a:ext cx="4142232" cy="1874520"/>
          </a:xfrm>
          <a:prstGeom prst="rect">
            <a:avLst/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54112" y="2286000"/>
            <a:ext cx="38679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02C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pour le nivellement</a:t>
            </a:r>
            <a:endParaRPr lang="en-US" sz="1200" dirty="0"/>
          </a:p>
          <a:p>
            <a:pPr marL="127000" indent="-127000">
              <a:buSzPct val="100000"/>
              <a:buChar char="•"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RIVIERA PARK – BNI courant : 1 772,0 (à arbitrer)</a:t>
            </a:r>
            <a:endParaRPr lang="en-US" sz="1200" dirty="0"/>
          </a:p>
          <a:p>
            <a:pPr marL="127000" indent="-127000">
              <a:buSzPct val="100000"/>
              <a:buChar char="•"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 FIRST – STB : 163,7</a:t>
            </a:r>
            <a:endParaRPr lang="en-US" sz="1200" dirty="0"/>
          </a:p>
          <a:p>
            <a:pPr marL="127000" indent="-127000">
              <a:buSzPct val="100000"/>
              <a:buChar char="•"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PICI – ECO : 105,3</a:t>
            </a:r>
            <a:endParaRPr lang="en-US" sz="1200" dirty="0"/>
          </a:p>
          <a:p>
            <a:pPr marL="127000" indent="-127000">
              <a:buSzPct val="100000"/>
              <a:buChar char="•"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PICI – STB : 24,8</a:t>
            </a:r>
            <a:endParaRPr lang="en-US" sz="1200" dirty="0"/>
          </a:p>
          <a:p>
            <a:pPr marL="127000" indent="-127000">
              <a:buSzPct val="100000"/>
              <a:buChar char="•"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 FIRST – SG : 8,4</a:t>
            </a:r>
            <a:endParaRPr lang="en-US" sz="1200" dirty="0"/>
          </a:p>
          <a:p>
            <a:pPr marL="127000" indent="-127000">
              <a:buSzPct val="100000"/>
              <a:buChar char="•"/>
            </a:pPr>
            <a:r>
              <a:rPr lang="en-US" sz="1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PICI – SG : 3,6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589520" y="4206240"/>
            <a:ext cx="4142232" cy="2103120"/>
          </a:xfrm>
          <a:prstGeom prst="rect">
            <a:avLst/>
          </a:prstGeom>
          <a:solidFill>
            <a:srgbClr val="002C50"/>
          </a:solidFill>
          <a:ln w="12700">
            <a:solidFill>
              <a:srgbClr val="002C5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54112" y="4297680"/>
            <a:ext cx="38679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b="1" dirty="0">
                <a:solidFill>
                  <a:srgbClr val="D4B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Décisions attendues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Fixer les virements de nivellement (PICI, SCI FIRST, compte à arbitrer) : le reporting les recalcule.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Financer le reste de 1 387,3 M, dont TERASSON – BNI fonds projet 720,2, TERASSON – SG 206,4, FINAFRICA – SG 140,2.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Décalages appliqués : salaires SCO AO 24,3 M en S3.</a:t>
            </a:r>
            <a:endParaRPr lang="en-US" sz="12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Prioriser impôts, cotisations et salaires si le financement est partiel.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6382512"/>
            <a:ext cx="10424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Reste à financer = somme des soldes théoriques négatifs, compte par compte (détail dans l'onglet « Équilibrage S1 » du reporting).</a:t>
            </a:r>
            <a:endParaRPr lang="en-US" sz="95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18520" y="6382512"/>
            <a:ext cx="530352" cy="32918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1612880" y="6400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Sociétés RCI – Besoins de trésorerie et comptes de paiement</dc:title>
  <dc:subject>PptxGenJS Presentation</dc:subject>
  <dc:creator>Direction Trésorerie &amp; Financement – Groupe Duval Afrique</dc:creator>
  <cp:lastModifiedBy>Direction Trésorerie &amp; Financement – Groupe Duval Afrique</cp:lastModifiedBy>
  <cp:revision>1</cp:revision>
  <dcterms:created xsi:type="dcterms:W3CDTF">2026-10-05T10:32:31Z</dcterms:created>
  <dcterms:modified xsi:type="dcterms:W3CDTF">2026-10-05T10:32:31Z</dcterms:modified>
</cp:coreProperties>
</file>