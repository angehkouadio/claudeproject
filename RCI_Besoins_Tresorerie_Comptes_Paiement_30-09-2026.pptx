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C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RCI – TRÉSORERIE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trésorerie et comptes de paiement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au 30/09/2026 – échéancier S1 à S5 (05/10 → 08/11/2026)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Trésorerie &amp; Financement – Groupe Duval Afrique  |  Octobre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 trésorerie au 30/09/2026 – échéancier S1 à S5 (05/10 → 08/11/2026), antériorités en S1 – montants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Fonctionnement, projets et dette, par semaine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par semaine et déficits à couvrir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06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7 709,5 M à payer de S1 à S5, dont 5 696,7 M dès S1 ; 2 601,5 M de déficits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349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Fournisseurs, impôts, cotisations et salaires des sociétés ; cash plans des projets ; service de la dette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bancaires mobilisables au 30/09/2026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de paiement par entité et nature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83680" y="3410712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de couverture et décisions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206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déficits : crédit spot, avances intragroupe ou comptes à arbitrer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5349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« Dédié besoin de fonctionnement » des sociétés, comptes « Dédié paiement CPI » des projets, service de la dette</a:t>
            </a:r>
            <a:endParaRPr lang="en-US" sz="10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 – Besoin par semaine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30/09/2026, échéancier S1 à S5 (05/10 → 08/11/2026), antériorités reportées en S1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7 709,5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S1 à S5 (11,8 M€) : fonctionnement, projets et dette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5 696,7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régler dès S1 (antériorités incluses), 74 % du besoin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7 946,1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au 30/09 ; 921,2 M bloqués, 1 772,0 M à arbitrer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2 601,5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: 2 projet(s) et 8 société(s)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1127455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914400"/>
                <a:gridCol w="914400"/>
                <a:gridCol w="822960"/>
                <a:gridCol w="822960"/>
                <a:gridCol w="822960"/>
                <a:gridCol w="1188720"/>
                <a:gridCol w="17373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Décaissements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05/10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12/10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19/10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 26/10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 02/11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payeurs au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Fonctionnement des sociétés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1 162,2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1 329,0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RIVIERA (cash plan)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1 242,5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TERASSON (cash plan)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2 202,1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Dette FIRST (service de la dette)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des décaissements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5 696,7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1 784,3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7 709,5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5 253,0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2 601,5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Encaissements prévus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4434840"/>
            <a:ext cx="11247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concentre 74 % du besoin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factures échues et arriérés d'impôts et de cotisations de l'audit, semaine en cours, cash plans non réglés jusqu'au mois de la situation, échéance de la dette.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5 932,3 M. RIVIERA en déficit de 601,4 M dès S2 ; TERASSON en déficit de 1 205,9 M dès S1.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TERASSON 206,4 M, FINAFRICA 198,7 M, SCO AO 176,0 M, RIVIERA 87,3 M, IMMONEUF 66,0 M, RHD CI 50,0 M ; excédents FIRST 143,3 M, PICI 100,0 M, INFI SOFT 2,8 M.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44768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mobilisables : STANBIC-FIRST_LL 42,5, STANBIC-FIRST_Disbursement 26,3, BNI-RIVIERA(DSRA) / Placement 776,1, BACI-AGORA/COMPTE BLOQU. TVA 76,3. À arbitrer : BNI-RIVIERA(Courant) 1 772,0. Projets en € HT à 655,957.</a:t>
            </a:r>
            <a:endParaRPr lang="en-US" sz="9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1. Comptes de paiement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payeur par entité et nature d'opération, trésorerie au 30/09/2026 et solde théorique fin S5 – MFCFA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886200"/>
                <a:gridCol w="960120"/>
                <a:gridCol w="2926080"/>
                <a:gridCol w="960120"/>
                <a:gridCol w="9418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d'opération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payeur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56,8 · impôts 167,4 · cotisations 51,1 · salaires 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ECOBANK-PICI, puis STANBIC-PICI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91,3 · impôts 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STANBIC-FIRST, puis SOCIETE GENERALE-FIRST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+143,3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9,7 · impôts 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GENERALE-TERASSON, puis ECOBANK -TERASSON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59,2 · impôts 75,0 · cotisations 61,1 · salaires 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GENERALE-FINAFRICA, puis ECOBANK-FINAFRICA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131,2 · impôts 21,7 · cotisations 16,6 · salaires 24,3 · autres 15,0 · encaissements −3,6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BACI-Projet, puis BACI-CompteCourant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17,6 · impôts 70,8 · cotisations 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6,2 · impôts 17,1 · cotisations 28,4 · salaires 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GENERALE-IMMONEUF, puis BACI - 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38,9 · cotisations 11,1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compte : paiement pour son compte par une autre société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2,5 · impôts 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 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1,6 · impôts 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GENERALE-ODALYS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2 492,7 · Frais financiers 524,1 · Honoraires 163,6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1 388,7 · Autres dépenses 836,7 · Honoraires 235,0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projet NP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– dette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Échéances 448,1 · loyers +129,6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 _ Debt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303520"/>
            <a:ext cx="201168" cy="146304"/>
          </a:xfrm>
          <a:prstGeom prst="rect">
            <a:avLst/>
          </a:prstGeom>
          <a:solidFill>
            <a:srgbClr val="E6F0EA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2760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autofinancées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834640" y="5303520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08960" y="52760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en déficit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212080" y="5303520"/>
            <a:ext cx="201168" cy="146304"/>
          </a:xfrm>
          <a:prstGeom prst="rect">
            <a:avLst/>
          </a:prstGeom>
          <a:solidFill>
            <a:srgbClr val="EEF2F6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52760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et dette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5138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société paie depuis ses comptes « Dédié besoin de fonctionnement », impôts et cotisations en premier ; chaque projet paie depuis son compte « Dédié paiement CPI » ; les échéances de prêts passent par le compte de service de la dette.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26364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 fin S5 = trésorerie au 30/09 + flux prévus de S1 à S5 (encaissements compris).</a:t>
            </a:r>
            <a:endParaRPr lang="en-US" sz="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2. Options de couverture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d'ici S5 : 2 601,5 M – MFCFA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68680"/>
                <a:gridCol w="2194560"/>
                <a:gridCol w="5943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à couvrir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Dès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2 601,5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46520" y="1325880"/>
            <a:ext cx="5285232" cy="150876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417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Crédit spot bancaire, par société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139903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794,2 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629400" y="1764792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par société en déficit (8), tiré par tranche : 690,0 M pour S1, le solde à l'échéance. Remboursement à la mise en place des financements.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2971800"/>
            <a:ext cx="5285232" cy="14630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29400" y="3063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– Avances intragroupe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30449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246,0 M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410712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Excédents en fin S5 : FIRST 143,3 M, PICI 100,0 M, INFI SOFT 2,8 M. Ils couvriraient 31 % des déficits des sociétés, avec conventions de compte courant.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46520" y="4572000"/>
            <a:ext cx="5285232" cy="16916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29400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– Projets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46451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1 807,3 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5010912"/>
            <a:ext cx="4937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à arbitrer : BNI-RIVIERA(Courant) 1 772,0 M ; affectés aux projets, ils couvriraient 98 % du déficit. À défaut : tirage des prêts des projets ou apport des actionnaires.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590288"/>
            <a:ext cx="5760720" cy="1719072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4681728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la solution des sociétés en déficit (794,2 M) : crédit spot, avances intragroupe ou combinaison.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Trancher l'affectation de BNI-RIVIERA(Courant) (1 772,0 M) : elle conditionne l'option C.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encaissements prévus (3,6 M), dont CLIENT.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Affecter les loyers de octobre 2026 (129,6 M) au service de la dette.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Revoir les 25 lignes non retenues du reporting (intragroupe, droits d'enregistrement, loyers encaissés).</a:t>
            </a:r>
            <a:endParaRPr lang="en-US" sz="13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trésorerie et comptes de paiement</dc:title>
  <dc:subject>PptxGenJS Presentation</dc:subject>
  <dc:creator>Direction Trésorerie &amp; Financement – Groupe Duval Afrique</dc:creator>
  <cp:lastModifiedBy>Direction Trésorerie &amp; Financement – Groupe Duval Afrique</cp:lastModifiedBy>
  <cp:revision>1</cp:revision>
  <dcterms:created xsi:type="dcterms:W3CDTF">2026-10-05T08:19:19Z</dcterms:created>
  <dcterms:modified xsi:type="dcterms:W3CDTF">2026-10-05T08:19:19Z</dcterms:modified>
</cp:coreProperties>
</file>