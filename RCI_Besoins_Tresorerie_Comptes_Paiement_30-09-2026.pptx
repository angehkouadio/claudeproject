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Reporting_Hebdo_CIV_30-09-2026.xlsx. Fonctionnement = balance âgée de l'audit au 30/09 (hors intragroupe), impôts, cotisations, salaires et flux SCO AO du reporting du 21/09. Projets = cash plans des bilans financiers du 02/10 (montants non réglés) ; octobre placé dans la semaine connue de PICI Projets, sinon en S2. Comptes payeurs : comptes « Dédié besoin de fonctionnement » des sociétés (y compris BNI-RIVIERA courant), comptes « Dédié paiement CPI » des projets, compte Debt Service de FIRST. Déficits mesurés en fin S5, entité par entité, sans compensation.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Trésorerie 30/09 = comptes de l'entité dans la position CI. SCO AO : fournisseurs projet payés depuis les comptes « Dédié paiement Projet SCO » (BACI-Projet 22,6 et BACI-AGORA 0,2) ; le reste (salaires 24,3, cotisations 16,6, fournisseurs 21,7, protocole Thulium 15,0, impôts 9,5, moins 3,6 d'encaissement client) depuis BACI courant 5,4, BOA 0,9 et Ecobank 0,1. FIRST : la redevance Diaby a exactement le montant du compte STANBIC-FIRST_LL (42,5) ; à confirmer avant de l'y imputer. Village Notre Père, autres : foncier 3,8 et autres dépenses 13,1. Riviera Park, autres : autres dépenses 37,5 et foncier 26,6.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BNI-RIVIERA courant (1 772,0 M) : 10,9 M pour le fonctionnement Riviera, 601,4 M pour le fonds projet RP, 1 157,4 M avancés à TERASSON ; reste 2,3 M. La position CI le marque « Affectation placement ? Ou besoin de fonctionnement ». SG-PICI porte la destination « Dédié besoin de fonctionnement et Netting autres compagnies CIV » : compte naturel des avances intragroupe, à alimenter d'abord depuis ECOBANK-PICI (368,2 M). L'encaissement PICI de 656,0 M n'est compté dans aucune option.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trésorerie – 1.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6 665,6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(10,2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4 895,0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73 %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7 946,1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30/09, dont 921,2 M non mobilisables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1 937,3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projets et 5 sociétés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2 549,2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Village Notre Père (TERASSON)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Park (RIVIERA)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SCI FIRST (Stanbic)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4 895,0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1 743,5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6 665,6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7 024,9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1 937,3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73 %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 échus au 30/09 et semaine du 28/09 au 04/10, montants des cash plans non réglés jusqu'à septembre, échéance Stanbic de FIRST.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5 932,3 M, dont 3 881,4 M de travaux. Village Notre Père est en déficit dès S1 (-720,2 M), Riviera Park à partir de S2.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SCO AO 80,9 M, FINAFRICA 40,2 M, RHD CI 4,0 M, AB CENTER 2,6 M, IMMONEUF 2,3 M ; excédents PICI 330,5 M et FIRST 144,8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DSRA 776,1 M, TVA bloquée 76,3 M, FIRST LL 42,5 M et décaissement 26,3 M. Encaissements dont 656,0 M à confirmer. Projets en € HT.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trésorerie – 2.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840480"/>
                <a:gridCol w="1005840"/>
                <a:gridCol w="310896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Fournisseurs, impôts et cotisations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 (appoint STANBIC-PICI)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+330,5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Fournisseurs, dont redevance Diaby 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; Diaby : STANBIC-FIRST_LL (à confirmer)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+144,8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Fournisseurs, impôts et cotisations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SG-RIVIERA, puis BNI-RIVIERA 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+1 761,1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BACI-AGORA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Salaires, cotisations, impôts, fournisseurs, Thulium (net du client)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BACI-Compte courant, BANK OF AFRICA, ECOBANK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Cotisations et impôts en priorité, puis 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et cotisations en priorité, puis 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et cotisations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par PICI pour son compte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1 388,7, due diligence 823,6, honoraires 235,0, frais financiers 223,6, autres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2 492,7, frais financiers 524,1, honoraires 163,6, autres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– dette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Échéance Stanbic, intérêts et capital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586984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586984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586984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5595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779008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toutes ses natures, frais financiers compris, depuis son compte « Dédié paiement CPI ».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DSRA Riviera (776,1 M) et TVA bloquée AGORA (76,3 M). Solde fin S5 = trésorerie au 30/09 – montant, hors encaissement PICI de 656,0 M à confirmer.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trésorerie – 3.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avances intragroupe couvrent les 1 937,3 M de déficits – MFCFA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24231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Paiement par PICI pour son compte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PICI via SG-PICI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fonds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BNI-RIVIERA 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Village Notre Père – fonds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Avance RIVIERA 1 157,4 + SG-TERASSON 48,5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1 937,3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5760720" cy="228600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069080"/>
            <a:ext cx="539496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 courant (1 772,0 M, « placement ou fonctionnement ») : elle conditionne B et C.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les avances PICI (130,0 M) via SG-PICI, avec conventions de compte courant et refacturation à RHD CI.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ou reporter les frais de due diligence DWF/IFC de Village Notre Père (823,6 M).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l'encaissement PICI de 656,0 M (remboursement d'avance FINAFRICA), non compté ici.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que les paiements du 21/09 (enregistrements 811 M RIVIERA, 861 M TERASSON) sont réglés.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Avances PICI aux sociétés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130,0 M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ECOBANK-PICI alimente SG-PICI, compte de netting des sociétés CIV, qui verse à SCO AO, FINAFRICA, AB CENTER et IMMONEUF ; RHD CI, sans compte, est payée pour son compte. PICI conserve 200,5 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Riviera Park, fonds projet RP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601,4 M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BNI-RIVIERA courant vers BNI-PICI / Fonds projet RP avant S2. Après le fonctionnement Riviera (10,9 M), il reste 1 159,7 M sur BNI-RIVIERA courant.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Village Notre Père, fonds projet NP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1 205,9 M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RIVIERA de 1 157,4 M depuis BNI-RIVIERA courant et 48,5 M de SG-TERASSON vers BNI-TERASSON / Fonds projet NP, dont 720,2 M avant S1. Reste 2,3 M sur BNI courant. Repli : tirage IFC / Proparco ou report de la due diligence (déficit ramené à 382,3 M).</a:t>
            </a:r>
            <a:endParaRPr lang="en-US" sz="11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2026-10-02T18:24:59Z</dcterms:created>
  <dcterms:modified xsi:type="dcterms:W3CDTF">2026-10-02T18:24:59Z</dcterms:modified>
</cp:coreProperties>
</file>