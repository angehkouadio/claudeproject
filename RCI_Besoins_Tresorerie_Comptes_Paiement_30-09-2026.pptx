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371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RCI – TRÉSORERIE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Besoins de trésorerie et comptes de paiement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404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au 30/09/2026 – échéancier S1 à S5 (05/10 → 08/11/2026)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9436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Trésorerie &amp; Financement – Groupe Duval Afrique  |  Octobre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trésorerie au 30/09/2026 – échéancier S1 à S5 (05/10 → 08/11/2026), antériorités en S1 – montants en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68112" cy="4480560"/>
          </a:xfrm>
          <a:prstGeom prst="roundRect">
            <a:avLst>
              <a:gd name="adj" fmla="val 204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trésorerie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Fonctionnement, projets et dette, par semaine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420624" cy="420624"/>
          </a:xfrm>
          <a:prstGeom prst="ellipse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par semaine et déficits à couvrir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0001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7 004,8 M à payer de S1 à S5, dont 5 277,0 M dès S1 ; 2 676,8 M de déficits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431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Fournisseurs, impôts, cotisations, salaires et échéances de prêts des sociétés ; cash plans des projets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468112" cy="4480560"/>
          </a:xfrm>
          <a:prstGeom prst="roundRect">
            <a:avLst>
              <a:gd name="adj" fmla="val 204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Paiement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bancaires mobilisables au 30/09/2026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2788920"/>
            <a:ext cx="420624" cy="420624"/>
          </a:xfrm>
          <a:prstGeom prst="ellipse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788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paiement par entité et nature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3410712"/>
            <a:ext cx="420624" cy="420624"/>
          </a:xfrm>
          <a:prstGeom prst="ellipse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341071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de couverture et décisions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4032504"/>
            <a:ext cx="420624" cy="420624"/>
          </a:xfrm>
          <a:prstGeom prst="ellipse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0325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 S1 : virements et reste à financer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70001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déficits : crédit spot, avances intragroupe ou comptes à arbitrer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431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« Dédié besoin de fonctionnement » des sociétés et comptes « Dédié paiement CPI » des projets ; comptes indisponibles exclus</a:t>
            </a:r>
            <a:endParaRPr lang="en-US" sz="10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Besoin de trésorerie – Besoin par semaine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au 30/09/2026, échéancier S1 à S5 (05/10 → 08/11/2026), antériorités reportées en S1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7 004,8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S1 à S5 (10,7 M€) : fonctionnement, projets et dette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5 277,0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régler dès S1 (antériorités incluses), 75 % du besoin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6 045,8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au 30/09 ; 76,3 M bloqués, 1 772,0 M à arbitrer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-1 571,4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fin S5 – comptes de sociétés ; comptes dédiés +745,6 M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74552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914400"/>
                <a:gridCol w="914400"/>
                <a:gridCol w="822960"/>
                <a:gridCol w="822960"/>
                <a:gridCol w="822960"/>
                <a:gridCol w="1188720"/>
                <a:gridCol w="1737360"/>
                <a:gridCol w="1280160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Décaissements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05/10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12/10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19/10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26/10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02/11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S1 à 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payeurs au 30/09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Déficit fin S5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Fonctionnement des sociétés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1 777,1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1 574,2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RIVIERA (cash plan)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1 988,4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1 242,5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3 244,5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 TERASSON (cash plan)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1 806,7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1 983,2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des décaissements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5 277,0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1 475,0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7 004,8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4 197,6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2 676,8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Encaissements prévus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 gridSpan="9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 (–) ou surplus (+) de trésorerie – soldes théoriques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de sociétés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-1 405,7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-1 345,8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-1 571,4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-1 571,4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-1 571,4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dont PICI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-571,0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-580,3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-604,7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dont FIRST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-171,8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-71,1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Comptes dédiés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+2 178,2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+772,7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+772,7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+745,6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dont RIVIERA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+2 426,7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+1 184,2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+1 184,2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+1 170,6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+1 170,6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i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dont TERASSON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-324,8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-487,8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-487,8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-501,3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5262372"/>
            <a:ext cx="112471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5 227,7 M. RIVIERA en déficit de 601,4 M dès S2 ; TERASSON en déficit de 501,3 M dès S1.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</a:t>
            </a:r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PICI 604,7 M, TERASSON 206,4 M, FINAFRICA 198,7 M, SCO AO 176,0 M, FIRST 175,3 M, RIVIERA 87,3 M ; excédents INFI SOFT 2,8 M.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144768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 à jour : paiements exécutés 704,7 M (TGCC, HORECAF), dont 704,7 M imputés sur le besoin. Hors position (indisponibles) : 1 195,6 M. Non mobilisables : BACI-AGORA/COMPTE BLOQU. TVA 76,3. À arbitrer : BNI-RIVIERA(Courant) 1 772,0. Projets en € HT à 655,957.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Paiement – 1. Comptes de paiement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payeur par entité et nature d'opération, trésorerie au 30/09/2026 et solde théorique fin S5 – MFCFA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  <a:gridCol w="960120"/>
                <a:gridCol w="2926080"/>
                <a:gridCol w="960120"/>
                <a:gridCol w="94183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 d'opération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S1 à S5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payeur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30/09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fin S5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56,8 · impôts 167,4 · cotisations 51,1 · salaires 21,3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STANBIC-PICI, puis SOCIETE GENERALE-PICI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-308,1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-604,7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9,7 · impôts 254,9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SOCIETE GENERALE-TERASSON, puis ECOBANK -TERASSON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59,2 · impôts 75,0 · cotisations 61,1 · salaires 38,5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SOCIETE GENERALE-FINAFRICA, puis ECOBANK-FINAFRICA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 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131,2 · impôts 21,7 · cotisations 16,6 · salaires 24,3 · autres 15,0 · encaissements −3,6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BACI-Projet, puis BACI-CompteCourant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91,3 · impôts 1,6 · prêts 448,1 · encaissements −129,6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541,0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STANBIC-FIRST, puis SOCIETE GENERALE-FIRST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17,6 · impôts 70,8 · cotisations 0,3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SOCIETE GENERALE-RIVIERA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6,2 · impôts 17,1 · cotisations 28,4 · salaires 26,0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SOCIETE GENERALE-IMMONEUF, puis BACI - 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Impôts 38,9 · cotisations 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compte : paiement pour son compte par une autre société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2,5 · impôts 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ECOBANK- 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Fournisseurs 1,6 · impôts 8,0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SOCIETE GENERALE-ODALYS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Travaux 2 492,7 · Frais financiers 524,1 · Honoraires 163,6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3 244,5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BNI-PICI / Fonds projet 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-601,4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 – 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 dépenses 836,7 · Travaux 686,7 · Honoraires 232,3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1 983,2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BNI-TERASSON / Fonds projet NP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29200"/>
            <a:ext cx="201168" cy="146304"/>
          </a:xfrm>
          <a:prstGeom prst="rect">
            <a:avLst/>
          </a:prstGeom>
          <a:solidFill>
            <a:srgbClr val="E6F0EA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autofinancées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834640" y="5029200"/>
            <a:ext cx="201168" cy="146304"/>
          </a:xfrm>
          <a:prstGeom prst="rect">
            <a:avLst/>
          </a:prstGeom>
          <a:solidFill>
            <a:srgbClr val="F7E7E5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Sociétés en déficit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12080" y="5029200"/>
            <a:ext cx="201168" cy="146304"/>
          </a:xfrm>
          <a:prstGeom prst="rect">
            <a:avLst/>
          </a:prstGeom>
          <a:solidFill>
            <a:srgbClr val="EEF2F6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5001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et dette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23951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société paie depuis ses comptes « Dédié besoin de fonctionnement », impôts et cotisations en premier ; chaque projet paie depuis son compte « Dédié paiement CPI » ; les échéances de prêts FIRST sont payées en fonctionnement ; les comptes indisponibles sont exclus.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26364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 S5 = trésorerie au 30/09 + flux prévus de S1 à S5 (encaissements compris).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Paiement – 2. Options de couverture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Déficits à couvrir d'ici S5 : 2 676,8 M – MFCFA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68680"/>
                <a:gridCol w="2194560"/>
                <a:gridCol w="59436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Déficit à couvrir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Dès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604,7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 AO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 (A) ou avance 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– fonds 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à arbitrer (C) ou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 – fonds projet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à arbitrer (C) ou prêts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2 676,8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325880"/>
            <a:ext cx="5285232" cy="1508760"/>
          </a:xfrm>
          <a:prstGeom prst="rect">
            <a:avLst/>
          </a:prstGeom>
          <a:solidFill>
            <a:srgbClr val="E6F0EA"/>
          </a:solidFill>
          <a:ln w="12700">
            <a:solidFill>
              <a:srgbClr val="E6F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417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Crédit spot bancaire, par société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0" y="139903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E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1 574,2 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764792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 par société en déficit (10), tiré par tranche : 1 408,5 M pour S1, le solde à l'échéance. Remboursement à la mise en place des financements.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2971800"/>
            <a:ext cx="5285232" cy="14630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3063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– Avances intragroupe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0" y="30449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 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410712"/>
            <a:ext cx="4937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Excédents en fin S5 : INFI SOFT 2,8 M. Ils couvriraient 0 % des déficits des sociétés, avec conventions de compte courant.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46520" y="4572000"/>
            <a:ext cx="5285232" cy="16916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29400" y="4663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– Projets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464515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1 102,6 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29400" y="5010912"/>
            <a:ext cx="4937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à arbitrer : BNI-RIVIERA(Courant) 1 772,0 M ; affectés aux projets, ils couvriraient 100 % du déficit. À défaut : tirage des prêts des projets ou apport des actionnaires.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5111496"/>
            <a:ext cx="5760720" cy="1197864"/>
          </a:xfrm>
          <a:prstGeom prst="rect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5394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solution des sociétés en déficit (1 574,2 M) : crédit spot, avances intragroupe ou combinaison.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Trancher l'affectation de BNI-RIVIERA(Courant) (1 772,0 M) : elle conditionne l'option C.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les encaissements prévus (133,2 M), dont Loyer octobre 2026 – DC/BR.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les loyers de octobre 2026 (129,6 M), encaissés en fonctionnement de FIRST.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Revoir les 25 lignes non retenues du reporting (intragroupe, droits d'enregistrement, loyers encaissés).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Paiement – 3. Équilibrage S1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8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05/10 au 11/10/2026 : flux à payer, virements et reste à financer par compte – MFCFA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79192" cy="822960"/>
          </a:xfrm>
          <a:prstGeom prst="roundRect">
            <a:avLst>
              <a:gd name="adj" fmla="val 88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5 273,4 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465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payer en S1 (fonctionnement, projets, échéances)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9272" y="1234440"/>
            <a:ext cx="2679192" cy="822960"/>
          </a:xfrm>
          <a:prstGeom prst="roundRect">
            <a:avLst>
              <a:gd name="adj" fmla="val 88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5 969,5 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7465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au 30/09 des comptes payeurs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234440"/>
            <a:ext cx="2679192" cy="822960"/>
          </a:xfrm>
          <a:prstGeom prst="roundRect">
            <a:avLst>
              <a:gd name="adj" fmla="val 88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18504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 M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18504" y="17465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virement(s) de nivellement saisi(s)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43416" y="1234440"/>
            <a:ext cx="2679192" cy="822960"/>
          </a:xfrm>
          <a:prstGeom prst="roundRect">
            <a:avLst>
              <a:gd name="adj" fmla="val 888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80576" y="13075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1 659,6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174650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financer en S1 après virements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12848"/>
          <a:ext cx="69037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896112"/>
                <a:gridCol w="896112"/>
                <a:gridCol w="896112"/>
                <a:gridCol w="896112"/>
                <a:gridCol w="896112"/>
              </a:tblGrid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Entité / compte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30/09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S1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Solde théorique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Reste à financer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 – projet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1 481,9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-1 806,7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-324,8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TERASSON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-206,4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-308,1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-262,9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-571,0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 FIRST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-407,9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-171,8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– projet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2 643,1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-1 988,4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 – BNI courant (à arbitrer)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1 772,0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1 272,0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RIVIERA PARK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-88,5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 AO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-151,7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IMMONEUF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-37,3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FINAFRICA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-175,2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-140,1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5E9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ODALYS CI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CENTER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RHD CI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7E5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5 969,5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-5 273,4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1 659,6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0" marB="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50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589520" y="2212848"/>
            <a:ext cx="4142232" cy="18745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2286000"/>
            <a:ext cx="3867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Virements saisis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9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RIVIERA PARK – BNI courant → RIVIERA PARK – SG : 500,0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89520" y="4206240"/>
            <a:ext cx="4142232" cy="2103120"/>
          </a:xfrm>
          <a:prstGeom prst="rect">
            <a:avLst/>
          </a:prstGeom>
          <a:solidFill>
            <a:srgbClr val="002C50"/>
          </a:solidFill>
          <a:ln w="12700">
            <a:solidFill>
              <a:srgbClr val="002C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54112" y="4297680"/>
            <a:ext cx="38679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D4B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attendues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les 1 virements saisis (500,0 M).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Financer le reste de 1 659,6 M, dont PICI – ECO 336,4, TERASSON – BNI fonds projet 324,8, PICI – STB 238,1.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Décalages appliqués : salaires SCO AO 24,3 M en S3.</a:t>
            </a:r>
            <a:endParaRPr lang="en-US" sz="12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Prioriser impôts, cotisations et salaires si le financement est partiel.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38251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financer = somme des soldes théoriques négatifs, compte par compte (détail dans l'onglet « Équilibrage S1 » du reporting).</a:t>
            </a:r>
            <a:endParaRPr lang="en-US" sz="9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0" y="6382512"/>
            <a:ext cx="530352" cy="32918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161288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Sociétés RCI – Besoins de trésorerie et comptes de paiement</dc:title>
  <dc:subject>PptxGenJS Presentation</dc:subject>
  <dc:creator>Direction Trésorerie &amp; Financement – Groupe Duval Afrique</dc:creator>
  <cp:lastModifiedBy>Direction Trésorerie &amp; Financement – Groupe Duval Afrique</cp:lastModifiedBy>
  <cp:revision>1</cp:revision>
  <dcterms:created xsi:type="dcterms:W3CDTF">2026-10-07T16:37:50Z</dcterms:created>
  <dcterms:modified xsi:type="dcterms:W3CDTF">2026-10-07T16:37:50Z</dcterms:modified>
</cp:coreProperties>
</file>