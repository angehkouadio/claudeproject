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4BB13-52BC-4979-901B-7F299C1D7403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DEF68-BC6C-4989-93D4-89D46AA7D4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81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de calcul : Tableau de suivi des prêts Afrique CI (onglets Suivi des prêts, Échéancier consolidé, Échéances 3 mois), situation au 02/10/2026. Montants en MFCFA ; EUR convertis à 655,957. Estimations : TERASSON PAI : encours moyen août–oct. ≈ 13 171 M ; coupon de janv. sur le montant intégral ; TERASSON CGRAE : encours moyen août–oct. ≈ 4 545 M ; coupon de janv. sur le montant intégral ; RIVIERA CGRAE : encours moyen ≈ 1 000 M (août–oct.) puis ≈ 5 479 M (nov.–janv.). Déjà tiré : BNI débloqué (encours 10 Md) ; prêts d'actionnaires estimés à partir des coupons (taux 6,25 %, trimestre de 92 jours) ; IFC / Proparco non renseigné (modèle provisoire de l'échéancier, décaissement selon CTA).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8284C8-835E-396B-7C94-BB396EC86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FB91B5-CA27-B7A2-076C-C66D9FADD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2C4C69-AAFE-6025-F243-146EC2CD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BD857-A244-D123-41BB-8D83AF96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97D9F3-A2D9-ABBA-7069-4E5C9026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673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A8B04-2F6E-9FD1-A642-5E7C4EB2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620852-EE1A-93B5-1DE5-C84A9D9A3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70A9E9-10E2-76B7-9442-58A49A8FD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042D68-727E-B3A4-0AC8-BB96DE03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94B24F-F258-C232-D5FA-69B957E9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23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3EC474-24B7-3FBE-6F35-8490A1C9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D2BD56-AA7D-51DC-4CBC-578456D11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99DE7F-F3E8-8723-2FBC-1F9C063BF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2807BE-7FE2-A009-7F26-B7A292A3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80A4F-9275-E532-65A7-5D756B74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90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BEE97-F443-4669-9345-AB872FF3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B1A246-3141-1814-E73A-764787ED7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C81B3F-B26C-583B-3120-CF44B07BA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23837B-2454-66D0-1BDD-3D8555B6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868EFA-F891-57FC-755E-CA0EAE7A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F8E68B-06FF-7959-AA60-D73C854A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09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EC617C-075F-1D27-3AAA-5CFFFA77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63CF83-75BC-D7F5-982B-69E095FFF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CA2952-7823-9382-B48B-6B8D7B70B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C84968-D52B-9146-D921-A6CA4DDC0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0D36430-8CCB-ED7B-3C78-9D409B14E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A10366-157B-98E9-59E7-7C01DC4C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F3D302-8840-60F0-7322-FBC618BC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C450436-B80A-FAB1-9AED-490986D5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68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CD1E5-20FA-A8A7-403C-B5FC9E55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ECD1D38-A928-9523-CE7F-49FAC3FB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8FCD57-82BC-E72C-78A8-B96AABCA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8BA11F-E331-906D-0374-C20BF17A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12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E63567-4084-AE5C-E52E-10A2BBB3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FEA98B-159F-A0DD-A6FF-2CED0489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97FCD7-E4A4-ACCC-E5B0-D3A1DD47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35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D8078-34B8-5EFD-6393-A34937D8B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3AA7EB-9559-2D97-D3AF-07BE3C1BE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6B9FBA-F16D-F27B-F4AF-DA3C4BDF8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FE1C58-1382-8305-2D29-4A10C325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106F82-06E9-10EA-B5E2-DF801964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7E777E-DB4C-731B-F914-FDE6E38B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30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09CC4-EA9F-B017-60AC-22DC0B91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CBD75C-A737-7495-BE39-55634E26A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C2A0CC-4E2C-97BF-DA64-CA40F7E9B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4B22D4-0618-5A52-EC69-C3F32FAF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6130ED-DB68-7961-8DAF-7CBE3C16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A8A392-FF3B-452D-0A31-A97E7238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3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401A4E-E89B-0ADA-3875-F77005F3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019F6C-3D88-82EA-A57F-6D49F40B9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63DECA-003D-85F6-CFB8-41F911C5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8D0325-A630-4AC7-0BF6-C1FA2FFD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24A76-FF12-EFA7-FA2B-79FE2B24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012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ACA95C-98F8-8F62-99E4-E1085CAF7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BC8F2F-298C-EC65-2979-F81CD5D3B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D8645D-0A21-DB1B-94E7-F9FA86DB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3EAD93-70C8-A51B-382D-17432355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E4D3A6-2608-56ED-E829-155D00332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846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88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9DDB55C-7244-B043-2A71-1A931C0A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E08153-A046-EAF1-66E8-9F5802E21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B5505D-424B-BBBE-A8C6-0BE34EDB9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94533-CE81-4574-8958-8829B661566C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B49A4A-E571-F99E-546A-CF121E57F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F2926E-F072-6CBB-B82F-EF2027AEA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92892-CD49-41E9-9CCA-921926FEF5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37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4. Suivi des financements en cours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Financements accordés et tirages au 02/10/2026 (tableau de suivi des prêts)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2 328,2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à financer (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novembre 2026 – trésorerie dédiée)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9632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336792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965,2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à financer (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novembre 2026 – trésorerie dédiée)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234440"/>
                <a:gridCol w="1097280"/>
                <a:gridCol w="914400"/>
                <a:gridCol w="1005840"/>
                <a:gridCol w="1097280"/>
                <a:gridCol w="22219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/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accordé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Déjà tiré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 à tirer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Prochain tirage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/ 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24028">
                <a:tc row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t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senior (16,26 M€)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10 668,5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CTA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EURIBOR + 3,5 % ; intérêts 30/12 : 94,4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senior (16,26 M€)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Proparco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10 668,5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CTA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EURIBOR + 3,5 % ; intérêts 30/12 : 94,4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7 158,8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7 158,8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112,8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14 317,5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d'ici le 31/10*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207,5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9,2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CGRAE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7 158,8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d'ici le 31/10*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71,6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TERASSON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50 556,4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4028">
                <a:tc row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t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bancaire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Débloqué le 17/07/2025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7,5 % ; échéance 17/10 : 206,3 M ; principal différé au 17/10/2027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7 129,4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7 129,4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112,3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14 258,9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14 258,9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224,6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9,2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CGRAE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7 129,4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1 000*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6 129*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 à janv.*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15,8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RIVIERA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39 099,7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0" name="Text 8"/>
          <p:cNvSpPr txBox="1"/>
          <p:nvPr/>
        </p:nvSpPr>
        <p:spPr>
          <a:xfrm>
            <a:off x="457200" y="5646420"/>
            <a:ext cx="1124712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50 556 M accordés, dont 21 337 M IFC / Proparco à décaisser selon le CTA, ressource identifiée pour les 2 328,2 M à financer. RIVIERA : BNI débloqué et associés tirés, sauf CGRAE (≈ 6 129 M à tirer), qui couvrirait les 965,2 M à financer.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Estimé à partir des coupons trimestriels à 6,25 %, à confirmer avec les relevés de tirage. Prêts d'actionnaires convertibles en ORA (AG d'approbation des comptes ou 30/06/2027).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Grand écran</PresentationFormat>
  <Paragraphs>22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KOUADIO Ange</dc:creator>
  <cp:lastModifiedBy>KOUADIO Ange</cp:lastModifiedBy>
  <cp:revision>1</cp:revision>
  <dcterms:created xsi:type="dcterms:W3CDTF">2026-10-02T16:44:17Z</dcterms:created>
  <dcterms:modified xsi:type="dcterms:W3CDTF">2026-10-02T16:44:29Z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33f31a-a91f-4b93-bbcd-5ddf027d1ae6_Enabled">
    <vt:lpwstr>true</vt:lpwstr>
  </property>
  <property fmtid="{D5CDD505-2E9C-101B-9397-08002B2CF9AE}" pid="3" name="MSIP_Label_4333f31a-a91f-4b93-bbcd-5ddf027d1ae6_SetDate">
    <vt:lpwstr>2026-10-02T16:44:29Z</vt:lpwstr>
  </property>
  <property fmtid="{D5CDD505-2E9C-101B-9397-08002B2CF9AE}" pid="4" name="MSIP_Label_4333f31a-a91f-4b93-bbcd-5ddf027d1ae6_Method">
    <vt:lpwstr>Standard</vt:lpwstr>
  </property>
  <property fmtid="{D5CDD505-2E9C-101B-9397-08002B2CF9AE}" pid="5" name="MSIP_Label_4333f31a-a91f-4b93-bbcd-5ddf027d1ae6_Name">
    <vt:lpwstr>C0</vt:lpwstr>
  </property>
  <property fmtid="{D5CDD505-2E9C-101B-9397-08002B2CF9AE}" pid="6" name="MSIP_Label_4333f31a-a91f-4b93-bbcd-5ddf027d1ae6_SiteId">
    <vt:lpwstr>f7e1e464-7e4d-4e93-9f42-de95ee7dcd32</vt:lpwstr>
  </property>
  <property fmtid="{D5CDD505-2E9C-101B-9397-08002B2CF9AE}" pid="7" name="MSIP_Label_4333f31a-a91f-4b93-bbcd-5ddf027d1ae6_ActionId">
    <vt:lpwstr>e2a6124e-6a3c-401e-8b91-09d0ebafa74d</vt:lpwstr>
  </property>
  <property fmtid="{D5CDD505-2E9C-101B-9397-08002B2CF9AE}" pid="8" name="MSIP_Label_4333f31a-a91f-4b93-bbcd-5ddf027d1ae6_ContentBits">
    <vt:lpwstr>0</vt:lpwstr>
  </property>
  <property fmtid="{D5CDD505-2E9C-101B-9397-08002B2CF9AE}" pid="9" name="MSIP_Label_4333f31a-a91f-4b93-bbcd-5ddf027d1ae6_Tag">
    <vt:lpwstr>10, 3, 0, 1</vt:lpwstr>
  </property>
</Properties>
</file>